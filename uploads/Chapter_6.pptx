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13" r:id="rId2"/>
    <p:sldId id="320" r:id="rId3"/>
    <p:sldId id="363" r:id="rId4"/>
    <p:sldId id="326" r:id="rId5"/>
    <p:sldId id="348" r:id="rId6"/>
    <p:sldId id="338" r:id="rId7"/>
    <p:sldId id="339" r:id="rId8"/>
    <p:sldId id="340" r:id="rId9"/>
    <p:sldId id="341" r:id="rId10"/>
    <p:sldId id="342" r:id="rId11"/>
    <p:sldId id="343" r:id="rId12"/>
    <p:sldId id="349" r:id="rId13"/>
    <p:sldId id="346" r:id="rId14"/>
    <p:sldId id="347" r:id="rId15"/>
    <p:sldId id="351" r:id="rId16"/>
    <p:sldId id="352" r:id="rId17"/>
    <p:sldId id="354" r:id="rId18"/>
    <p:sldId id="355" r:id="rId19"/>
    <p:sldId id="356" r:id="rId20"/>
    <p:sldId id="357" r:id="rId21"/>
    <p:sldId id="358" r:id="rId22"/>
    <p:sldId id="350" r:id="rId23"/>
    <p:sldId id="344" r:id="rId24"/>
    <p:sldId id="345" r:id="rId25"/>
    <p:sldId id="359" r:id="rId26"/>
    <p:sldId id="322" r:id="rId27"/>
    <p:sldId id="283" r:id="rId28"/>
    <p:sldId id="285" r:id="rId29"/>
    <p:sldId id="286" r:id="rId30"/>
    <p:sldId id="287" r:id="rId31"/>
    <p:sldId id="288" r:id="rId32"/>
    <p:sldId id="289" r:id="rId33"/>
    <p:sldId id="333" r:id="rId34"/>
    <p:sldId id="334" r:id="rId35"/>
    <p:sldId id="364" r:id="rId36"/>
    <p:sldId id="361" r:id="rId37"/>
    <p:sldId id="311" r:id="rId38"/>
  </p:sldIdLst>
  <p:sldSz cx="9144000" cy="6858000" type="screen4x3"/>
  <p:notesSz cx="69469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AA676"/>
    <a:srgbClr val="32000C"/>
    <a:srgbClr val="CB6B30"/>
    <a:srgbClr val="E36243"/>
    <a:srgbClr val="FF4A7E"/>
    <a:srgbClr val="0B0B0B"/>
    <a:srgbClr val="234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3" autoAdjust="0"/>
    <p:restoredTop sz="81673" autoAdjust="0"/>
  </p:normalViewPr>
  <p:slideViewPr>
    <p:cSldViewPr>
      <p:cViewPr varScale="1">
        <p:scale>
          <a:sx n="67" d="100"/>
          <a:sy n="67" d="100"/>
        </p:scale>
        <p:origin x="194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1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0323" cy="461010"/>
          </a:xfrm>
          <a:prstGeom prst="rect">
            <a:avLst/>
          </a:prstGeom>
        </p:spPr>
        <p:txBody>
          <a:bodyPr vert="horz" lIns="92382" tIns="46191" rIns="92382" bIns="4619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4969" y="0"/>
            <a:ext cx="3010323" cy="461010"/>
          </a:xfrm>
          <a:prstGeom prst="rect">
            <a:avLst/>
          </a:prstGeom>
        </p:spPr>
        <p:txBody>
          <a:bodyPr vert="horz" lIns="92382" tIns="46191" rIns="92382" bIns="4619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16718D-8360-4CA2-A52F-457D5885EBF9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692150"/>
            <a:ext cx="4610100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82" tIns="46191" rIns="92382" bIns="4619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4690" y="4379595"/>
            <a:ext cx="5557520" cy="4149090"/>
          </a:xfrm>
          <a:prstGeom prst="rect">
            <a:avLst/>
          </a:prstGeom>
        </p:spPr>
        <p:txBody>
          <a:bodyPr vert="horz" lIns="92382" tIns="46191" rIns="92382" bIns="4619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10323" cy="461010"/>
          </a:xfrm>
          <a:prstGeom prst="rect">
            <a:avLst/>
          </a:prstGeom>
        </p:spPr>
        <p:txBody>
          <a:bodyPr vert="horz" lIns="92382" tIns="46191" rIns="92382" bIns="4619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4969" y="8757590"/>
            <a:ext cx="3010323" cy="461010"/>
          </a:xfrm>
          <a:prstGeom prst="rect">
            <a:avLst/>
          </a:prstGeom>
        </p:spPr>
        <p:txBody>
          <a:bodyPr vert="horz" lIns="92382" tIns="46191" rIns="92382" bIns="4619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357A54E-A0D1-41BC-B984-7211C3CBB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48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F28757-5665-4391-A89D-C3B96C8CD92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The simpler classifier or regularization could increase bias and lead to more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059683-7DA8-4CCC-B736-E213A444BFD2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04A53A-FD17-4CDC-90AD-C2059183345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Generative classifiers try to model the data.  Discriminative classifiers try to predict the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4AEC9B-73F9-4CF1-AE00-30F08E6CED2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597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56775-AC2F-42AB-A214-F558B0CC5E41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A9E3F-CC94-4789-9C6D-0DDC34980E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99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14DDC-2F59-4DD9-9644-9BB0B60D9749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CADE4-B44B-4822-84F5-7BEBB33DB4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8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57B84-ACD7-448A-BBB4-70531AEC6B06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D8C24-9F21-4CF6-81D6-AC05CFB126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1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13751-1A31-4E06-9B5B-A4049CBFB6C9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9BF14E-2E86-4C42-9DD6-BFD7B7DA72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9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1F2DD-C394-4734-9911-106245C75798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27621-425E-488D-97FB-9DE1F642C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6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E78BEC-D406-4FCB-90E7-2D3D069AA800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4E534-8B18-4AB0-932D-FA1DC4FE50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4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161D1-D7B5-4618-AB21-E585768108F1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F6339-0CC2-44B7-A610-2D3B5D57FB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7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FBBE4-E04F-4ECB-9899-7F803D455DBC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2FEA3B-8ACA-495B-B7BA-DCCB09B530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2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7A50DB-3139-4AE0-93EF-C6575A567A97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8A1B3-6C48-48B2-AD80-AB4459BD95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CB5B1-F4DF-4BE8-B302-5BB02B35516F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0D90F-A11F-429C-850C-8D7B9D672C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1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1714F-B5A2-4D82-B175-AEC472608202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6A2839-9F41-4835-BCC7-60E70BBE8E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5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668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6A9DFFF-75C1-499C-B315-9D8B96A5F9D5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2A6A0CD-EA81-4982-8D7D-F48610E71D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7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Classifiers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None/>
            </a:pPr>
            <a:r>
              <a:rPr lang="en-US" dirty="0"/>
              <a:t>	A classifier maps from the feature space to a label</a:t>
            </a:r>
          </a:p>
        </p:txBody>
      </p:sp>
      <p:grpSp>
        <p:nvGrpSpPr>
          <p:cNvPr id="27652" name="Group 14"/>
          <p:cNvGrpSpPr>
            <a:grpSpLocks/>
          </p:cNvGrpSpPr>
          <p:nvPr/>
        </p:nvGrpSpPr>
        <p:grpSpPr bwMode="auto">
          <a:xfrm>
            <a:off x="2133600" y="3200400"/>
            <a:ext cx="4038600" cy="3417888"/>
            <a:chOff x="4267200" y="2667000"/>
            <a:chExt cx="4038600" cy="3417332"/>
          </a:xfrm>
        </p:grpSpPr>
        <p:sp>
          <p:nvSpPr>
            <p:cNvPr id="27656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7657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7658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7659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7660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7661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7662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7663" name="TextBox 11"/>
            <p:cNvSpPr txBox="1">
              <a:spLocks noChangeArrowheads="1"/>
            </p:cNvSpPr>
            <p:nvPr/>
          </p:nvSpPr>
          <p:spPr bwMode="auto">
            <a:xfrm>
              <a:off x="5715000" y="368046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7664" name="TextBox 12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7665" name="TextBox 13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7666" name="TextBox 14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7667" name="TextBox 15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27668" name="TextBox 16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71" name="TextBox 19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27672" name="TextBox 20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23" name="Straight Connector 22"/>
          <p:cNvCxnSpPr/>
          <p:nvPr/>
        </p:nvCxnSpPr>
        <p:spPr>
          <a:xfrm>
            <a:off x="2133600" y="4038600"/>
            <a:ext cx="5943600" cy="21336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 rot="17425660">
            <a:off x="5618163" y="4838700"/>
            <a:ext cx="639762" cy="3444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Right Arrow 24"/>
          <p:cNvSpPr/>
          <p:nvPr/>
        </p:nvSpPr>
        <p:spPr>
          <a:xfrm rot="6546465">
            <a:off x="5356225" y="5564188"/>
            <a:ext cx="638175" cy="346075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Exemplar-based: transfer category labels from examples with most similar features</a:t>
            </a:r>
          </a:p>
          <a:p>
            <a:pPr lvl="1"/>
            <a:r>
              <a:rPr lang="en-US" dirty="0"/>
              <a:t>What similarity function? What parameters? </a:t>
            </a:r>
          </a:p>
          <a:p>
            <a:r>
              <a:rPr lang="en-US" dirty="0"/>
              <a:t>Linear classifier: confidence in positive label is a weighted sum of features</a:t>
            </a:r>
          </a:p>
          <a:p>
            <a:pPr lvl="1"/>
            <a:r>
              <a:rPr lang="en-US" dirty="0"/>
              <a:t>What are the weights?</a:t>
            </a:r>
          </a:p>
          <a:p>
            <a:r>
              <a:rPr lang="en-US" dirty="0"/>
              <a:t>Non-linear classifier: predictions based on more complex function of features</a:t>
            </a:r>
          </a:p>
          <a:p>
            <a:pPr lvl="1"/>
            <a:r>
              <a:rPr lang="en-US" dirty="0"/>
              <a:t>What form does the classifier take? Parameters?</a:t>
            </a:r>
          </a:p>
          <a:p>
            <a:r>
              <a:rPr lang="en-US" dirty="0"/>
              <a:t>Generative classifier: assign to the label that best explains the features (makes features most likely)</a:t>
            </a:r>
          </a:p>
          <a:p>
            <a:pPr lvl="1"/>
            <a:r>
              <a:rPr lang="en-US" dirty="0"/>
              <a:t>What is the probability function and its parameters?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6071118"/>
            <a:ext cx="876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Note: You can always fully design the classifier by hand, but usually this is too difficult.  Typical solution: learn from training examples. </a:t>
            </a:r>
          </a:p>
        </p:txBody>
      </p:sp>
    </p:spTree>
    <p:extLst>
      <p:ext uri="{BB962C8B-B14F-4D97-AF65-F5344CB8AC3E}">
        <p14:creationId xmlns:p14="http://schemas.microsoft.com/office/powerpoint/2010/main" val="44007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way to think about it…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Training labels dictate that two examples are the same or different, in some sense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Features and distance measures define visual similarity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Goal of training is to learn feature weights or distance measures so that visual similarity predicts label similarity</a:t>
            </a:r>
          </a:p>
          <a:p>
            <a:pPr>
              <a:buFont typeface="Arial" charset="0"/>
              <a:buChar char="•"/>
              <a:defRPr/>
            </a:pPr>
            <a:endParaRPr lang="en-US" i="1" dirty="0"/>
          </a:p>
          <a:p>
            <a:pPr>
              <a:buFont typeface="Arial" charset="0"/>
              <a:buChar char="•"/>
              <a:defRPr/>
            </a:pPr>
            <a:r>
              <a:rPr lang="en-US" i="1" dirty="0"/>
              <a:t>We want the simplest function that is confidently correct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Exemplar-based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Transfer the label(s) of the most similar training examples</a:t>
            </a:r>
          </a:p>
        </p:txBody>
      </p:sp>
    </p:spTree>
    <p:extLst>
      <p:ext uri="{BB962C8B-B14F-4D97-AF65-F5344CB8AC3E}">
        <p14:creationId xmlns:p14="http://schemas.microsoft.com/office/powerpoint/2010/main" val="330021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 classifier</a:t>
            </a:r>
          </a:p>
        </p:txBody>
      </p:sp>
      <p:grpSp>
        <p:nvGrpSpPr>
          <p:cNvPr id="40963" name="Group 3"/>
          <p:cNvGrpSpPr>
            <a:grpSpLocks/>
          </p:cNvGrpSpPr>
          <p:nvPr/>
        </p:nvGrpSpPr>
        <p:grpSpPr bwMode="auto">
          <a:xfrm>
            <a:off x="2594853" y="2045829"/>
            <a:ext cx="4038600" cy="3417888"/>
            <a:chOff x="4267200" y="2667000"/>
            <a:chExt cx="4038600" cy="3417332"/>
          </a:xfrm>
        </p:grpSpPr>
        <p:sp>
          <p:nvSpPr>
            <p:cNvPr id="40967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68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69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0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1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2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3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4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0975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6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7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8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79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80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0981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4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0985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966453" y="3265029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5095166" y="3722229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5456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1-nearest neighbor</a:t>
            </a:r>
          </a:p>
        </p:txBody>
      </p:sp>
      <p:grpSp>
        <p:nvGrpSpPr>
          <p:cNvPr id="41987" name="Group 3"/>
          <p:cNvGrpSpPr>
            <a:grpSpLocks/>
          </p:cNvGrpSpPr>
          <p:nvPr/>
        </p:nvGrpSpPr>
        <p:grpSpPr bwMode="auto">
          <a:xfrm>
            <a:off x="2594853" y="2057400"/>
            <a:ext cx="4038600" cy="3417888"/>
            <a:chOff x="4267200" y="2667000"/>
            <a:chExt cx="4038600" cy="3417332"/>
          </a:xfrm>
        </p:grpSpPr>
        <p:sp>
          <p:nvSpPr>
            <p:cNvPr id="41993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4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5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6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7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8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1999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2000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2001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2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3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4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5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6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2007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010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2011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41988" name="TextBox 23"/>
          <p:cNvSpPr txBox="1">
            <a:spLocks noChangeArrowheads="1"/>
          </p:cNvSpPr>
          <p:nvPr/>
        </p:nvSpPr>
        <p:spPr bwMode="auto">
          <a:xfrm>
            <a:off x="3966453" y="3276600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41989" name="TextBox 28"/>
          <p:cNvSpPr txBox="1">
            <a:spLocks noChangeArrowheads="1"/>
          </p:cNvSpPr>
          <p:nvPr/>
        </p:nvSpPr>
        <p:spPr bwMode="auto">
          <a:xfrm>
            <a:off x="5095166" y="3733800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30" name="Oval 29"/>
          <p:cNvSpPr/>
          <p:nvPr/>
        </p:nvSpPr>
        <p:spPr>
          <a:xfrm>
            <a:off x="3966453" y="3048000"/>
            <a:ext cx="3810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880853" y="3657600"/>
            <a:ext cx="533400" cy="609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0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3-nearest neighbor</a:t>
            </a: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2608729" y="2057400"/>
            <a:ext cx="4038600" cy="3417888"/>
            <a:chOff x="4267200" y="2667000"/>
            <a:chExt cx="4038600" cy="3417332"/>
          </a:xfrm>
        </p:grpSpPr>
        <p:sp>
          <p:nvSpPr>
            <p:cNvPr id="43017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18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19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0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1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2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3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4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3025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26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27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28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29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30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3031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034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3035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43012" name="TextBox 23"/>
          <p:cNvSpPr txBox="1">
            <a:spLocks noChangeArrowheads="1"/>
          </p:cNvSpPr>
          <p:nvPr/>
        </p:nvSpPr>
        <p:spPr bwMode="auto">
          <a:xfrm>
            <a:off x="3980329" y="3276600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43013" name="TextBox 28"/>
          <p:cNvSpPr txBox="1">
            <a:spLocks noChangeArrowheads="1"/>
          </p:cNvSpPr>
          <p:nvPr/>
        </p:nvSpPr>
        <p:spPr bwMode="auto">
          <a:xfrm>
            <a:off x="5109042" y="3733800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30" name="Oval 29"/>
          <p:cNvSpPr/>
          <p:nvPr/>
        </p:nvSpPr>
        <p:spPr>
          <a:xfrm>
            <a:off x="3599329" y="3048000"/>
            <a:ext cx="1066800" cy="9144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361329" y="3581400"/>
            <a:ext cx="1447800" cy="685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41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5-nearest neighbor</a:t>
            </a:r>
          </a:p>
        </p:txBody>
      </p:sp>
      <p:grpSp>
        <p:nvGrpSpPr>
          <p:cNvPr id="44035" name="Group 3"/>
          <p:cNvGrpSpPr>
            <a:grpSpLocks/>
          </p:cNvGrpSpPr>
          <p:nvPr/>
        </p:nvGrpSpPr>
        <p:grpSpPr bwMode="auto">
          <a:xfrm>
            <a:off x="2590800" y="2068512"/>
            <a:ext cx="4038600" cy="3417888"/>
            <a:chOff x="4267200" y="2667000"/>
            <a:chExt cx="4038600" cy="3417332"/>
          </a:xfrm>
        </p:grpSpPr>
        <p:sp>
          <p:nvSpPr>
            <p:cNvPr id="44042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3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4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5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6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7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8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9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50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1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2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3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4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5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6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59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4060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44036" name="TextBox 23"/>
          <p:cNvSpPr txBox="1">
            <a:spLocks noChangeArrowheads="1"/>
          </p:cNvSpPr>
          <p:nvPr/>
        </p:nvSpPr>
        <p:spPr bwMode="auto">
          <a:xfrm>
            <a:off x="3962400" y="3287712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44037" name="TextBox 28"/>
          <p:cNvSpPr txBox="1">
            <a:spLocks noChangeArrowheads="1"/>
          </p:cNvSpPr>
          <p:nvPr/>
        </p:nvSpPr>
        <p:spPr bwMode="auto">
          <a:xfrm>
            <a:off x="5091113" y="3744912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30" name="Oval 29"/>
          <p:cNvSpPr/>
          <p:nvPr/>
        </p:nvSpPr>
        <p:spPr>
          <a:xfrm rot="2565105">
            <a:off x="3429000" y="2906712"/>
            <a:ext cx="1447800" cy="11430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191000" y="3363912"/>
            <a:ext cx="2209800" cy="9144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56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</a:t>
            </a:r>
          </a:p>
        </p:txBody>
      </p:sp>
      <p:grpSp>
        <p:nvGrpSpPr>
          <p:cNvPr id="44035" name="Group 3"/>
          <p:cNvGrpSpPr>
            <a:grpSpLocks/>
          </p:cNvGrpSpPr>
          <p:nvPr/>
        </p:nvGrpSpPr>
        <p:grpSpPr bwMode="auto">
          <a:xfrm>
            <a:off x="2552700" y="1045480"/>
            <a:ext cx="4038600" cy="3417888"/>
            <a:chOff x="4267200" y="2667000"/>
            <a:chExt cx="4038600" cy="3417332"/>
          </a:xfrm>
        </p:grpSpPr>
        <p:sp>
          <p:nvSpPr>
            <p:cNvPr id="44042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3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4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5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6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7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8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49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4050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1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2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3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4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5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4056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59" name="TextBox 21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4060" name="TextBox 22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sp>
        <p:nvSpPr>
          <p:cNvPr id="44036" name="TextBox 23"/>
          <p:cNvSpPr txBox="1">
            <a:spLocks noChangeArrowheads="1"/>
          </p:cNvSpPr>
          <p:nvPr/>
        </p:nvSpPr>
        <p:spPr bwMode="auto">
          <a:xfrm>
            <a:off x="3924300" y="2264680"/>
            <a:ext cx="319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44037" name="TextBox 28"/>
          <p:cNvSpPr txBox="1">
            <a:spLocks noChangeArrowheads="1"/>
          </p:cNvSpPr>
          <p:nvPr/>
        </p:nvSpPr>
        <p:spPr bwMode="auto">
          <a:xfrm>
            <a:off x="5053013" y="2721880"/>
            <a:ext cx="319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/>
              <a:t>+</a:t>
            </a:r>
          </a:p>
        </p:txBody>
      </p:sp>
      <p:sp>
        <p:nvSpPr>
          <p:cNvPr id="30" name="Oval 29"/>
          <p:cNvSpPr/>
          <p:nvPr/>
        </p:nvSpPr>
        <p:spPr>
          <a:xfrm rot="2565105">
            <a:off x="3390900" y="1883680"/>
            <a:ext cx="1447800" cy="11430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4152900" y="2340880"/>
            <a:ext cx="2209800" cy="9144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14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K-NN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Simple, a good one to try first</a:t>
            </a:r>
          </a:p>
          <a:p>
            <a:endParaRPr lang="en-US" dirty="0"/>
          </a:p>
          <a:p>
            <a:r>
              <a:rPr lang="en-US" dirty="0"/>
              <a:t>Higher K gives smoother functions</a:t>
            </a:r>
          </a:p>
          <a:p>
            <a:endParaRPr lang="en-US" dirty="0"/>
          </a:p>
          <a:p>
            <a:r>
              <a:rPr lang="en-US" dirty="0"/>
              <a:t>No training time (unless you want to learn a distance function)</a:t>
            </a:r>
          </a:p>
          <a:p>
            <a:endParaRPr lang="en-US" dirty="0"/>
          </a:p>
          <a:p>
            <a:r>
              <a:rPr lang="en-US" dirty="0"/>
              <a:t>With infinite examples, 1-NN provably has error that is at most twice Bayes optimal error</a:t>
            </a:r>
          </a:p>
        </p:txBody>
      </p:sp>
    </p:spTree>
    <p:extLst>
      <p:ext uri="{BB962C8B-B14F-4D97-AF65-F5344CB8AC3E}">
        <p14:creationId xmlns:p14="http://schemas.microsoft.com/office/powerpoint/2010/main" val="1631344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Learn a simple function of the input features that confidently predicts the true labels on the training set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Goals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Accurate classification of training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Correct classifications are confident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Classification function is simple</a:t>
            </a:r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76600" y="3103167"/>
                <a:ext cx="187801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𝑦</m:t>
                      </m:r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r>
                        <a:rPr lang="en-US" sz="32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103167"/>
                <a:ext cx="1878015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3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Classifiers: Logistic Regression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Objective</a:t>
            </a:r>
          </a:p>
          <a:p>
            <a:r>
              <a:rPr lang="en-US" sz="2400" dirty="0"/>
              <a:t>Parameterization</a:t>
            </a:r>
          </a:p>
          <a:p>
            <a:r>
              <a:rPr lang="en-US" sz="2400" dirty="0"/>
              <a:t>Regularization</a:t>
            </a:r>
          </a:p>
          <a:p>
            <a:r>
              <a:rPr lang="en-US" sz="2400" dirty="0"/>
              <a:t>Training</a:t>
            </a:r>
          </a:p>
          <a:p>
            <a:r>
              <a:rPr lang="en-US" sz="2400" dirty="0"/>
              <a:t>Inference</a:t>
            </a:r>
          </a:p>
        </p:txBody>
      </p:sp>
      <p:grpSp>
        <p:nvGrpSpPr>
          <p:cNvPr id="48132" name="Group 14"/>
          <p:cNvGrpSpPr>
            <a:grpSpLocks/>
          </p:cNvGrpSpPr>
          <p:nvPr/>
        </p:nvGrpSpPr>
        <p:grpSpPr bwMode="auto">
          <a:xfrm>
            <a:off x="4495800" y="1447800"/>
            <a:ext cx="4038600" cy="3417888"/>
            <a:chOff x="4267200" y="2667000"/>
            <a:chExt cx="4038600" cy="3417332"/>
          </a:xfrm>
        </p:grpSpPr>
        <p:sp>
          <p:nvSpPr>
            <p:cNvPr id="48134" name="TextBox 15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135" name="TextBox 16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136" name="TextBox 17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137" name="TextBox 18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138" name="TextBox 19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139" name="TextBox 20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140" name="TextBox 21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141" name="TextBox 22"/>
            <p:cNvSpPr txBox="1">
              <a:spLocks noChangeArrowheads="1"/>
            </p:cNvSpPr>
            <p:nvPr/>
          </p:nvSpPr>
          <p:spPr bwMode="auto">
            <a:xfrm>
              <a:off x="5715000" y="368046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48142" name="TextBox 24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8143" name="TextBox 25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8144" name="TextBox 26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8145" name="TextBox 27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48146" name="TextBox 28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149" name="TextBox 32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48150" name="TextBox 33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22" name="Straight Connector 21"/>
          <p:cNvCxnSpPr/>
          <p:nvPr/>
        </p:nvCxnSpPr>
        <p:spPr>
          <a:xfrm>
            <a:off x="4648200" y="2514600"/>
            <a:ext cx="411480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57106" y="5854354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objective function </a:t>
            </a:r>
            <a:r>
              <a:rPr lang="en-US" sz="2400" dirty="0"/>
              <a:t>of most discriminative classifiers includes a </a:t>
            </a:r>
            <a:r>
              <a:rPr lang="en-US" sz="2400" b="1" dirty="0"/>
              <a:t>loss term </a:t>
            </a:r>
            <a:r>
              <a:rPr lang="en-US" sz="2400" dirty="0"/>
              <a:t>and a </a:t>
            </a:r>
            <a:r>
              <a:rPr lang="en-US" sz="2400" b="1" dirty="0"/>
              <a:t>regularization term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6226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Logistic Regression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Quick, simple classifier (try it first)</a:t>
            </a:r>
          </a:p>
          <a:p>
            <a:endParaRPr lang="en-US"/>
          </a:p>
          <a:p>
            <a:r>
              <a:rPr lang="en-US"/>
              <a:t>Use L2 or L1 regularization</a:t>
            </a:r>
          </a:p>
          <a:p>
            <a:pPr lvl="1"/>
            <a:r>
              <a:rPr lang="en-US"/>
              <a:t>L1 does feature selection and is robust to irrelevant features but slower to train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3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Classifiers: Linear SVM</a:t>
            </a:r>
          </a:p>
        </p:txBody>
      </p:sp>
      <p:grpSp>
        <p:nvGrpSpPr>
          <p:cNvPr id="52228" name="Group 14"/>
          <p:cNvGrpSpPr>
            <a:grpSpLocks/>
          </p:cNvGrpSpPr>
          <p:nvPr/>
        </p:nvGrpSpPr>
        <p:grpSpPr bwMode="auto">
          <a:xfrm>
            <a:off x="4495800" y="1447800"/>
            <a:ext cx="4038600" cy="3417888"/>
            <a:chOff x="4267200" y="2667000"/>
            <a:chExt cx="4038600" cy="3417332"/>
          </a:xfrm>
        </p:grpSpPr>
        <p:sp>
          <p:nvSpPr>
            <p:cNvPr id="52236" name="TextBox 15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237" name="TextBox 16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238" name="TextBox 17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239" name="TextBox 18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240" name="TextBox 19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241" name="TextBox 20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242" name="TextBox 21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243" name="TextBox 22"/>
            <p:cNvSpPr txBox="1">
              <a:spLocks noChangeArrowheads="1"/>
            </p:cNvSpPr>
            <p:nvPr/>
          </p:nvSpPr>
          <p:spPr bwMode="auto">
            <a:xfrm>
              <a:off x="5715000" y="368046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2244" name="TextBox 23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2245" name="TextBox 24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2246" name="TextBox 25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2247" name="TextBox 26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2248" name="TextBox 27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2249" name="TextBox 28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252" name="TextBox 32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52253" name="TextBox 33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35" name="Straight Connector 34"/>
          <p:cNvCxnSpPr/>
          <p:nvPr/>
        </p:nvCxnSpPr>
        <p:spPr>
          <a:xfrm>
            <a:off x="4724400" y="2362200"/>
            <a:ext cx="4038600" cy="152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876800" y="2217738"/>
            <a:ext cx="4038600" cy="152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789488" y="2579688"/>
            <a:ext cx="4038600" cy="152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997575" y="2533650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7356475" y="3048000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835775" y="3276600"/>
            <a:ext cx="228600" cy="228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rot="10800000" flipV="1">
            <a:off x="6629400" y="1962150"/>
            <a:ext cx="533400" cy="30480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200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Classifiers: Kernelized SVM</a:t>
            </a:r>
          </a:p>
        </p:txBody>
      </p:sp>
      <p:grpSp>
        <p:nvGrpSpPr>
          <p:cNvPr id="53251" name="Group 38"/>
          <p:cNvGrpSpPr>
            <a:grpSpLocks/>
          </p:cNvGrpSpPr>
          <p:nvPr/>
        </p:nvGrpSpPr>
        <p:grpSpPr bwMode="auto">
          <a:xfrm>
            <a:off x="4800600" y="1905000"/>
            <a:ext cx="3505200" cy="750888"/>
            <a:chOff x="4800600" y="1905000"/>
            <a:chExt cx="3505200" cy="750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800600" y="2285718"/>
              <a:ext cx="35052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66" name="TextBox 6"/>
            <p:cNvSpPr txBox="1">
              <a:spLocks noChangeArrowheads="1"/>
            </p:cNvSpPr>
            <p:nvPr/>
          </p:nvSpPr>
          <p:spPr bwMode="auto">
            <a:xfrm>
              <a:off x="7764294" y="1905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267" name="TextBox 7"/>
            <p:cNvSpPr txBox="1">
              <a:spLocks noChangeArrowheads="1"/>
            </p:cNvSpPr>
            <p:nvPr/>
          </p:nvSpPr>
          <p:spPr bwMode="auto">
            <a:xfrm>
              <a:off x="5638800" y="1905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268" name="TextBox 8"/>
            <p:cNvSpPr txBox="1">
              <a:spLocks noChangeArrowheads="1"/>
            </p:cNvSpPr>
            <p:nvPr/>
          </p:nvSpPr>
          <p:spPr bwMode="auto">
            <a:xfrm>
              <a:off x="7535694" y="1905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269" name="TextBox 9"/>
            <p:cNvSpPr txBox="1">
              <a:spLocks noChangeArrowheads="1"/>
            </p:cNvSpPr>
            <p:nvPr/>
          </p:nvSpPr>
          <p:spPr bwMode="auto">
            <a:xfrm>
              <a:off x="5257800" y="1905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270" name="TextBox 10"/>
            <p:cNvSpPr txBox="1">
              <a:spLocks noChangeArrowheads="1"/>
            </p:cNvSpPr>
            <p:nvPr/>
          </p:nvSpPr>
          <p:spPr bwMode="auto">
            <a:xfrm>
              <a:off x="6781800" y="19050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3271" name="TextBox 11"/>
            <p:cNvSpPr txBox="1">
              <a:spLocks noChangeArrowheads="1"/>
            </p:cNvSpPr>
            <p:nvPr/>
          </p:nvSpPr>
          <p:spPr bwMode="auto">
            <a:xfrm>
              <a:off x="6248400" y="19050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3272" name="TextBox 12"/>
            <p:cNvSpPr txBox="1">
              <a:spLocks noChangeArrowheads="1"/>
            </p:cNvSpPr>
            <p:nvPr/>
          </p:nvSpPr>
          <p:spPr bwMode="auto">
            <a:xfrm>
              <a:off x="6553200" y="19050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3273" name="TextBox 13"/>
            <p:cNvSpPr txBox="1">
              <a:spLocks noChangeArrowheads="1"/>
            </p:cNvSpPr>
            <p:nvPr/>
          </p:nvSpPr>
          <p:spPr bwMode="auto">
            <a:xfrm>
              <a:off x="5029200" y="2286000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</a:t>
              </a:r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343400" y="2743200"/>
            <a:ext cx="4343400" cy="3417888"/>
            <a:chOff x="4343400" y="2743200"/>
            <a:chExt cx="4343400" cy="3417332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4876800" y="5790704"/>
              <a:ext cx="35052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54" name="TextBox 15"/>
            <p:cNvSpPr txBox="1">
              <a:spLocks noChangeArrowheads="1"/>
            </p:cNvSpPr>
            <p:nvPr/>
          </p:nvSpPr>
          <p:spPr bwMode="auto">
            <a:xfrm>
              <a:off x="7840494" y="2743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255" name="TextBox 16"/>
            <p:cNvSpPr txBox="1">
              <a:spLocks noChangeArrowheads="1"/>
            </p:cNvSpPr>
            <p:nvPr/>
          </p:nvSpPr>
          <p:spPr bwMode="auto">
            <a:xfrm>
              <a:off x="5715000" y="544449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256" name="TextBox 17"/>
            <p:cNvSpPr txBox="1">
              <a:spLocks noChangeArrowheads="1"/>
            </p:cNvSpPr>
            <p:nvPr/>
          </p:nvSpPr>
          <p:spPr bwMode="auto">
            <a:xfrm>
              <a:off x="76200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257" name="TextBox 18"/>
            <p:cNvSpPr txBox="1">
              <a:spLocks noChangeArrowheads="1"/>
            </p:cNvSpPr>
            <p:nvPr/>
          </p:nvSpPr>
          <p:spPr bwMode="auto">
            <a:xfrm>
              <a:off x="5334000" y="5498068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3258" name="TextBox 19"/>
            <p:cNvSpPr txBox="1">
              <a:spLocks noChangeArrowheads="1"/>
            </p:cNvSpPr>
            <p:nvPr/>
          </p:nvSpPr>
          <p:spPr bwMode="auto">
            <a:xfrm>
              <a:off x="6934200" y="46101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3259" name="TextBox 20"/>
            <p:cNvSpPr txBox="1">
              <a:spLocks noChangeArrowheads="1"/>
            </p:cNvSpPr>
            <p:nvPr/>
          </p:nvSpPr>
          <p:spPr bwMode="auto">
            <a:xfrm>
              <a:off x="6324600" y="5200888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3260" name="TextBox 21"/>
            <p:cNvSpPr txBox="1">
              <a:spLocks noChangeArrowheads="1"/>
            </p:cNvSpPr>
            <p:nvPr/>
          </p:nvSpPr>
          <p:spPr bwMode="auto">
            <a:xfrm>
              <a:off x="6629400" y="494919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3261" name="TextBox 22"/>
            <p:cNvSpPr txBox="1">
              <a:spLocks noChangeArrowheads="1"/>
            </p:cNvSpPr>
            <p:nvPr/>
          </p:nvSpPr>
          <p:spPr bwMode="auto">
            <a:xfrm>
              <a:off x="5105400" y="5791200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rot="5400000" flipH="1" flipV="1">
              <a:off x="3582405" y="4494721"/>
              <a:ext cx="2590379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63" name="TextBox 25"/>
            <p:cNvSpPr txBox="1">
              <a:spLocks noChangeArrowheads="1"/>
            </p:cNvSpPr>
            <p:nvPr/>
          </p:nvSpPr>
          <p:spPr bwMode="auto">
            <a:xfrm>
              <a:off x="4343400" y="5181600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</a:t>
              </a:r>
              <a:r>
                <a:rPr lang="en-US" baseline="30000"/>
                <a:t>2</a:t>
              </a:r>
              <a:endParaRPr lang="en-US"/>
            </a:p>
          </p:txBody>
        </p:sp>
        <p:cxnSp>
          <p:nvCxnSpPr>
            <p:cNvPr id="33" name="Straight Connector 32"/>
            <p:cNvCxnSpPr/>
            <p:nvPr/>
          </p:nvCxnSpPr>
          <p:spPr>
            <a:xfrm rot="10800000" flipV="1">
              <a:off x="5715000" y="3200326"/>
              <a:ext cx="2971800" cy="27427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193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SVMs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dirty="0"/>
              <a:t>Good general purpose classifier</a:t>
            </a:r>
          </a:p>
          <a:p>
            <a:pPr lvl="1">
              <a:defRPr/>
            </a:pPr>
            <a:r>
              <a:rPr lang="en-US" sz="2400" dirty="0"/>
              <a:t>Generalization depends on margin, so works well with many weak features</a:t>
            </a:r>
          </a:p>
          <a:p>
            <a:pPr lvl="1">
              <a:defRPr/>
            </a:pPr>
            <a:r>
              <a:rPr lang="en-US" sz="2400" dirty="0"/>
              <a:t>No feature selection</a:t>
            </a:r>
          </a:p>
          <a:p>
            <a:pPr lvl="1">
              <a:defRPr/>
            </a:pPr>
            <a:r>
              <a:rPr lang="en-US" sz="2400" dirty="0"/>
              <a:t>Usually requires some parameter tuning</a:t>
            </a:r>
          </a:p>
          <a:p>
            <a:pPr lvl="1">
              <a:defRPr/>
            </a:pPr>
            <a:endParaRPr lang="en-US" sz="2400" dirty="0"/>
          </a:p>
          <a:p>
            <a:pPr>
              <a:defRPr/>
            </a:pPr>
            <a:r>
              <a:rPr lang="en-US" sz="2800" dirty="0"/>
              <a:t>Choosing kernel</a:t>
            </a:r>
          </a:p>
          <a:p>
            <a:pPr lvl="1">
              <a:defRPr/>
            </a:pPr>
            <a:r>
              <a:rPr lang="en-US" sz="2400" dirty="0"/>
              <a:t>Linear: fast training/testing – start here</a:t>
            </a:r>
          </a:p>
          <a:p>
            <a:pPr lvl="1">
              <a:defRPr/>
            </a:pPr>
            <a:r>
              <a:rPr lang="en-US" sz="2400" dirty="0"/>
              <a:t>RBF: related to neural networks, nearest neighbor</a:t>
            </a:r>
          </a:p>
          <a:p>
            <a:pPr lvl="1">
              <a:defRPr/>
            </a:pPr>
            <a:r>
              <a:rPr lang="en-US" sz="2400" dirty="0"/>
              <a:t>Chi-squared, histogram intersection: good for histograms (but slower, esp. chi-squared)</a:t>
            </a:r>
          </a:p>
          <a:p>
            <a:pPr lvl="1">
              <a:defRPr/>
            </a:pPr>
            <a:r>
              <a:rPr lang="en-US" sz="2400" dirty="0"/>
              <a:t>Can learn a kernel function</a:t>
            </a:r>
          </a:p>
          <a:p>
            <a:pPr lvl="1">
              <a:defRPr/>
            </a:pPr>
            <a:endParaRPr lang="en-US" sz="2400" dirty="0"/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17357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Classifiers: Decision Trees</a:t>
            </a:r>
          </a:p>
        </p:txBody>
      </p:sp>
      <p:grpSp>
        <p:nvGrpSpPr>
          <p:cNvPr id="55299" name="Group 28"/>
          <p:cNvGrpSpPr>
            <a:grpSpLocks/>
          </p:cNvGrpSpPr>
          <p:nvPr/>
        </p:nvGrpSpPr>
        <p:grpSpPr bwMode="auto">
          <a:xfrm>
            <a:off x="2061453" y="2013558"/>
            <a:ext cx="4038600" cy="3417888"/>
            <a:chOff x="4267200" y="2667000"/>
            <a:chExt cx="4038600" cy="3417332"/>
          </a:xfrm>
        </p:grpSpPr>
        <p:sp>
          <p:nvSpPr>
            <p:cNvPr id="55304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305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306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307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308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309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310" name="TextBox 10"/>
            <p:cNvSpPr txBox="1">
              <a:spLocks noChangeArrowheads="1"/>
            </p:cNvSpPr>
            <p:nvPr/>
          </p:nvSpPr>
          <p:spPr bwMode="auto">
            <a:xfrm>
              <a:off x="6316494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311" name="TextBox 11"/>
            <p:cNvSpPr txBox="1">
              <a:spLocks noChangeArrowheads="1"/>
            </p:cNvSpPr>
            <p:nvPr/>
          </p:nvSpPr>
          <p:spPr bwMode="auto"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312" name="TextBox 12"/>
            <p:cNvSpPr txBox="1">
              <a:spLocks noChangeArrowheads="1"/>
            </p:cNvSpPr>
            <p:nvPr/>
          </p:nvSpPr>
          <p:spPr bwMode="auto"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5313" name="TextBox 13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5314" name="TextBox 14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5315" name="TextBox 15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5316" name="TextBox 16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5317" name="TextBox 17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5318" name="TextBox 18"/>
            <p:cNvSpPr txBox="1">
              <a:spLocks noChangeArrowheads="1"/>
            </p:cNvSpPr>
            <p:nvPr/>
          </p:nvSpPr>
          <p:spPr bwMode="auto"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321" name="TextBox 25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55322" name="TextBox 26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25" name="Straight Connector 24"/>
          <p:cNvCxnSpPr/>
          <p:nvPr/>
        </p:nvCxnSpPr>
        <p:spPr>
          <a:xfrm>
            <a:off x="2671053" y="3385158"/>
            <a:ext cx="3429000" cy="1588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3966454" y="4147158"/>
            <a:ext cx="1524000" cy="3175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3129047" y="2622364"/>
            <a:ext cx="1524000" cy="1588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3432260" y="2622364"/>
            <a:ext cx="1524000" cy="1587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6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Ensemble Methods: Boosting</a:t>
            </a:r>
          </a:p>
        </p:txBody>
      </p:sp>
      <p:pic>
        <p:nvPicPr>
          <p:cNvPr id="563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90800"/>
            <a:ext cx="7924800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extBox 4"/>
          <p:cNvSpPr txBox="1">
            <a:spLocks noChangeArrowheads="1"/>
          </p:cNvSpPr>
          <p:nvPr/>
        </p:nvSpPr>
        <p:spPr bwMode="auto">
          <a:xfrm>
            <a:off x="228600" y="6400800"/>
            <a:ext cx="2454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/>
              <a:t>figure from Friedman et al. 2000</a:t>
            </a:r>
          </a:p>
        </p:txBody>
      </p:sp>
    </p:spTree>
    <p:extLst>
      <p:ext uri="{BB962C8B-B14F-4D97-AF65-F5344CB8AC3E}">
        <p14:creationId xmlns:p14="http://schemas.microsoft.com/office/powerpoint/2010/main" val="412218955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Boosted Decision Trees </a:t>
            </a:r>
          </a:p>
        </p:txBody>
      </p:sp>
      <p:sp>
        <p:nvSpPr>
          <p:cNvPr id="222" name="Text Box 2"/>
          <p:cNvSpPr txBox="1">
            <a:spLocks noChangeArrowheads="1"/>
          </p:cNvSpPr>
          <p:nvPr/>
        </p:nvSpPr>
        <p:spPr bwMode="auto">
          <a:xfrm>
            <a:off x="4343400" y="3048000"/>
            <a:ext cx="685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3200" kern="0">
                <a:solidFill>
                  <a:sysClr val="windowText" lastClr="000000"/>
                </a:solidFill>
                <a:latin typeface="Arial" charset="0"/>
              </a:rPr>
              <a:t>…</a:t>
            </a:r>
          </a:p>
        </p:txBody>
      </p:sp>
      <p:sp>
        <p:nvSpPr>
          <p:cNvPr id="223" name="AutoShape 3"/>
          <p:cNvSpPr>
            <a:spLocks noChangeArrowheads="1"/>
          </p:cNvSpPr>
          <p:nvPr/>
        </p:nvSpPr>
        <p:spPr bwMode="auto">
          <a:xfrm>
            <a:off x="6629400" y="1676400"/>
            <a:ext cx="1219200" cy="762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FF0000"/>
                </a:solidFill>
                <a:latin typeface="Arial" charset="0"/>
              </a:rPr>
              <a:t>Gray?</a:t>
            </a:r>
          </a:p>
        </p:txBody>
      </p:sp>
      <p:sp>
        <p:nvSpPr>
          <p:cNvPr id="224" name="AutoShape 4"/>
          <p:cNvSpPr>
            <a:spLocks noChangeArrowheads="1"/>
          </p:cNvSpPr>
          <p:nvPr/>
        </p:nvSpPr>
        <p:spPr bwMode="auto">
          <a:xfrm>
            <a:off x="5791200" y="2819400"/>
            <a:ext cx="1219200" cy="762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ysClr val="windowText" lastClr="000000"/>
                </a:solidFill>
                <a:latin typeface="Arial" charset="0"/>
              </a:rPr>
              <a:t>High in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ysClr val="windowText" lastClr="000000"/>
                </a:solidFill>
                <a:latin typeface="Arial" charset="0"/>
              </a:rPr>
              <a:t>Image?</a:t>
            </a:r>
          </a:p>
        </p:txBody>
      </p:sp>
      <p:sp>
        <p:nvSpPr>
          <p:cNvPr id="225" name="AutoShape 5"/>
          <p:cNvSpPr>
            <a:spLocks noChangeArrowheads="1"/>
          </p:cNvSpPr>
          <p:nvPr/>
        </p:nvSpPr>
        <p:spPr bwMode="auto">
          <a:xfrm>
            <a:off x="7391400" y="2819400"/>
            <a:ext cx="1219200" cy="762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FF0000"/>
                </a:solidFill>
                <a:latin typeface="Arial" charset="0"/>
              </a:rPr>
              <a:t>Many Long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FF0000"/>
                </a:solidFill>
                <a:latin typeface="Arial" charset="0"/>
              </a:rPr>
              <a:t>Lines?</a:t>
            </a:r>
          </a:p>
        </p:txBody>
      </p:sp>
      <p:cxnSp>
        <p:nvCxnSpPr>
          <p:cNvPr id="57351" name="AutoShape 6"/>
          <p:cNvCxnSpPr>
            <a:cxnSpLocks noChangeShapeType="1"/>
            <a:stCxn id="223" idx="2"/>
            <a:endCxn id="224" idx="0"/>
          </p:cNvCxnSpPr>
          <p:nvPr/>
        </p:nvCxnSpPr>
        <p:spPr bwMode="auto">
          <a:xfrm flipH="1">
            <a:off x="6400800" y="2457450"/>
            <a:ext cx="838200" cy="34290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2" name="AutoShape 7"/>
          <p:cNvCxnSpPr>
            <a:cxnSpLocks noChangeShapeType="1"/>
            <a:stCxn id="223" idx="2"/>
            <a:endCxn id="225" idx="0"/>
          </p:cNvCxnSpPr>
          <p:nvPr/>
        </p:nvCxnSpPr>
        <p:spPr bwMode="auto">
          <a:xfrm>
            <a:off x="7239000" y="2457450"/>
            <a:ext cx="762000" cy="3429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3" name="AutoShape 8"/>
          <p:cNvCxnSpPr>
            <a:cxnSpLocks noChangeShapeType="1"/>
            <a:stCxn id="224" idx="2"/>
          </p:cNvCxnSpPr>
          <p:nvPr/>
        </p:nvCxnSpPr>
        <p:spPr bwMode="auto">
          <a:xfrm flipH="1">
            <a:off x="6118225" y="3600450"/>
            <a:ext cx="282575" cy="37306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9" name="Text Box 9"/>
          <p:cNvSpPr txBox="1">
            <a:spLocks noChangeArrowheads="1"/>
          </p:cNvSpPr>
          <p:nvPr/>
        </p:nvSpPr>
        <p:spPr bwMode="auto">
          <a:xfrm>
            <a:off x="6956425" y="4789488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0000"/>
                </a:solidFill>
                <a:latin typeface="Arial" charset="0"/>
              </a:rPr>
              <a:t>Yes</a:t>
            </a:r>
          </a:p>
        </p:txBody>
      </p:sp>
      <p:sp>
        <p:nvSpPr>
          <p:cNvPr id="230" name="Text Box 10"/>
          <p:cNvSpPr txBox="1">
            <a:spLocks noChangeArrowheads="1"/>
          </p:cNvSpPr>
          <p:nvPr/>
        </p:nvSpPr>
        <p:spPr bwMode="auto">
          <a:xfrm>
            <a:off x="7696200" y="240665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231" name="Text Box 11"/>
          <p:cNvSpPr txBox="1">
            <a:spLocks noChangeArrowheads="1"/>
          </p:cNvSpPr>
          <p:nvPr/>
        </p:nvSpPr>
        <p:spPr bwMode="auto">
          <a:xfrm>
            <a:off x="8229600" y="3581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No</a:t>
            </a:r>
          </a:p>
        </p:txBody>
      </p:sp>
      <p:sp>
        <p:nvSpPr>
          <p:cNvPr id="232" name="Text Box 12"/>
          <p:cNvSpPr txBox="1">
            <a:spLocks noChangeArrowheads="1"/>
          </p:cNvSpPr>
          <p:nvPr/>
        </p:nvSpPr>
        <p:spPr bwMode="auto">
          <a:xfrm>
            <a:off x="6705600" y="3581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No</a:t>
            </a:r>
          </a:p>
        </p:txBody>
      </p:sp>
      <p:sp>
        <p:nvSpPr>
          <p:cNvPr id="233" name="Text Box 13"/>
          <p:cNvSpPr txBox="1">
            <a:spLocks noChangeArrowheads="1"/>
          </p:cNvSpPr>
          <p:nvPr/>
        </p:nvSpPr>
        <p:spPr bwMode="auto">
          <a:xfrm>
            <a:off x="7848600" y="48006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No</a:t>
            </a:r>
          </a:p>
        </p:txBody>
      </p:sp>
      <p:sp>
        <p:nvSpPr>
          <p:cNvPr id="234" name="Text Box 14"/>
          <p:cNvSpPr txBox="1">
            <a:spLocks noChangeArrowheads="1"/>
          </p:cNvSpPr>
          <p:nvPr/>
        </p:nvSpPr>
        <p:spPr bwMode="auto">
          <a:xfrm>
            <a:off x="5562600" y="3581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Yes</a:t>
            </a:r>
          </a:p>
        </p:txBody>
      </p:sp>
      <p:sp>
        <p:nvSpPr>
          <p:cNvPr id="235" name="Text Box 15"/>
          <p:cNvSpPr txBox="1">
            <a:spLocks noChangeArrowheads="1"/>
          </p:cNvSpPr>
          <p:nvPr/>
        </p:nvSpPr>
        <p:spPr bwMode="auto">
          <a:xfrm>
            <a:off x="7315200" y="3581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0000"/>
                </a:solidFill>
                <a:latin typeface="Arial" charset="0"/>
              </a:rPr>
              <a:t>Yes</a:t>
            </a:r>
          </a:p>
        </p:txBody>
      </p:sp>
      <p:sp>
        <p:nvSpPr>
          <p:cNvPr id="236" name="Text Box 16"/>
          <p:cNvSpPr txBox="1">
            <a:spLocks noChangeArrowheads="1"/>
          </p:cNvSpPr>
          <p:nvPr/>
        </p:nvSpPr>
        <p:spPr bwMode="auto">
          <a:xfrm>
            <a:off x="6248400" y="240665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Yes</a:t>
            </a:r>
          </a:p>
        </p:txBody>
      </p:sp>
      <p:cxnSp>
        <p:nvCxnSpPr>
          <p:cNvPr id="57362" name="AutoShape 17"/>
          <p:cNvCxnSpPr>
            <a:cxnSpLocks noChangeShapeType="1"/>
            <a:stCxn id="224" idx="2"/>
          </p:cNvCxnSpPr>
          <p:nvPr/>
        </p:nvCxnSpPr>
        <p:spPr bwMode="auto">
          <a:xfrm>
            <a:off x="6400800" y="3600450"/>
            <a:ext cx="228600" cy="373063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3" name="AutoShape 18"/>
          <p:cNvCxnSpPr>
            <a:cxnSpLocks noChangeShapeType="1"/>
            <a:stCxn id="225" idx="2"/>
            <a:endCxn id="242" idx="0"/>
          </p:cNvCxnSpPr>
          <p:nvPr/>
        </p:nvCxnSpPr>
        <p:spPr bwMode="auto">
          <a:xfrm flipH="1">
            <a:off x="7696200" y="3600450"/>
            <a:ext cx="304800" cy="4191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4" name="AutoShape 19"/>
          <p:cNvCxnSpPr>
            <a:cxnSpLocks noChangeShapeType="1"/>
            <a:stCxn id="225" idx="2"/>
          </p:cNvCxnSpPr>
          <p:nvPr/>
        </p:nvCxnSpPr>
        <p:spPr bwMode="auto">
          <a:xfrm>
            <a:off x="8001000" y="3600450"/>
            <a:ext cx="685800" cy="51435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5" name="AutoShape 20"/>
          <p:cNvCxnSpPr>
            <a:cxnSpLocks noChangeShapeType="1"/>
            <a:stCxn id="242" idx="2"/>
          </p:cNvCxnSpPr>
          <p:nvPr/>
        </p:nvCxnSpPr>
        <p:spPr bwMode="auto">
          <a:xfrm flipH="1">
            <a:off x="7367588" y="4819650"/>
            <a:ext cx="328612" cy="274638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6" name="AutoShape 21"/>
          <p:cNvCxnSpPr>
            <a:cxnSpLocks noChangeShapeType="1"/>
            <a:stCxn id="242" idx="2"/>
          </p:cNvCxnSpPr>
          <p:nvPr/>
        </p:nvCxnSpPr>
        <p:spPr bwMode="auto">
          <a:xfrm>
            <a:off x="7696200" y="4819650"/>
            <a:ext cx="315913" cy="28575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2" name="AutoShape 22"/>
          <p:cNvSpPr>
            <a:spLocks noChangeArrowheads="1"/>
          </p:cNvSpPr>
          <p:nvPr/>
        </p:nvSpPr>
        <p:spPr bwMode="auto">
          <a:xfrm>
            <a:off x="7086600" y="4038600"/>
            <a:ext cx="1219200" cy="762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rgbClr val="FF0000"/>
                </a:solidFill>
                <a:latin typeface="Arial" charset="0"/>
              </a:rPr>
              <a:t>Very High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rgbClr val="FF0000"/>
                </a:solidFill>
                <a:latin typeface="Arial" charset="0"/>
              </a:rPr>
              <a:t>Vanishing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rgbClr val="FF0000"/>
                </a:solidFill>
                <a:latin typeface="Arial" charset="0"/>
              </a:rPr>
              <a:t>Point?</a:t>
            </a:r>
          </a:p>
        </p:txBody>
      </p:sp>
      <p:sp>
        <p:nvSpPr>
          <p:cNvPr id="243" name="AutoShape 23"/>
          <p:cNvSpPr>
            <a:spLocks noChangeArrowheads="1"/>
          </p:cNvSpPr>
          <p:nvPr/>
        </p:nvSpPr>
        <p:spPr bwMode="auto">
          <a:xfrm>
            <a:off x="1752600" y="1676400"/>
            <a:ext cx="1219200" cy="762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FF0000"/>
                </a:solidFill>
                <a:latin typeface="Arial" charset="0"/>
              </a:rPr>
              <a:t>High in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FF0000"/>
                </a:solidFill>
                <a:latin typeface="Arial" charset="0"/>
              </a:rPr>
              <a:t>Image?</a:t>
            </a:r>
          </a:p>
        </p:txBody>
      </p:sp>
      <p:sp>
        <p:nvSpPr>
          <p:cNvPr id="244" name="AutoShape 24"/>
          <p:cNvSpPr>
            <a:spLocks noChangeArrowheads="1"/>
          </p:cNvSpPr>
          <p:nvPr/>
        </p:nvSpPr>
        <p:spPr bwMode="auto">
          <a:xfrm>
            <a:off x="914400" y="2819400"/>
            <a:ext cx="1219200" cy="762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rgbClr val="FF0000"/>
                </a:solidFill>
                <a:latin typeface="Arial" charset="0"/>
              </a:rPr>
              <a:t>Smooth?</a:t>
            </a:r>
          </a:p>
        </p:txBody>
      </p:sp>
      <p:sp>
        <p:nvSpPr>
          <p:cNvPr id="245" name="AutoShape 25"/>
          <p:cNvSpPr>
            <a:spLocks noChangeArrowheads="1"/>
          </p:cNvSpPr>
          <p:nvPr/>
        </p:nvSpPr>
        <p:spPr bwMode="auto">
          <a:xfrm>
            <a:off x="2514600" y="2819400"/>
            <a:ext cx="1219200" cy="762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ysClr val="windowText" lastClr="000000"/>
                </a:solidFill>
                <a:latin typeface="Arial" charset="0"/>
              </a:rPr>
              <a:t>Green?</a:t>
            </a:r>
          </a:p>
        </p:txBody>
      </p:sp>
      <p:sp>
        <p:nvSpPr>
          <p:cNvPr id="246" name="AutoShape 26"/>
          <p:cNvSpPr>
            <a:spLocks noChangeArrowheads="1"/>
          </p:cNvSpPr>
          <p:nvPr/>
        </p:nvSpPr>
        <p:spPr bwMode="auto">
          <a:xfrm>
            <a:off x="381000" y="3962400"/>
            <a:ext cx="1219200" cy="7620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>
                <a:solidFill>
                  <a:sysClr val="windowText" lastClr="000000"/>
                </a:solidFill>
                <a:latin typeface="Arial" charset="0"/>
              </a:rPr>
              <a:t>Blue?</a:t>
            </a:r>
          </a:p>
        </p:txBody>
      </p:sp>
      <p:cxnSp>
        <p:nvCxnSpPr>
          <p:cNvPr id="57372" name="AutoShape 27"/>
          <p:cNvCxnSpPr>
            <a:cxnSpLocks noChangeShapeType="1"/>
            <a:stCxn id="243" idx="2"/>
            <a:endCxn id="244" idx="0"/>
          </p:cNvCxnSpPr>
          <p:nvPr/>
        </p:nvCxnSpPr>
        <p:spPr bwMode="auto">
          <a:xfrm flipH="1">
            <a:off x="1524000" y="2457450"/>
            <a:ext cx="838200" cy="3429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73" name="AutoShape 28"/>
          <p:cNvCxnSpPr>
            <a:cxnSpLocks noChangeShapeType="1"/>
            <a:stCxn id="243" idx="2"/>
            <a:endCxn id="245" idx="0"/>
          </p:cNvCxnSpPr>
          <p:nvPr/>
        </p:nvCxnSpPr>
        <p:spPr bwMode="auto">
          <a:xfrm>
            <a:off x="2362200" y="2457450"/>
            <a:ext cx="762000" cy="34290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74" name="AutoShape 29"/>
          <p:cNvCxnSpPr>
            <a:cxnSpLocks noChangeShapeType="1"/>
            <a:stCxn id="244" idx="2"/>
            <a:endCxn id="246" idx="0"/>
          </p:cNvCxnSpPr>
          <p:nvPr/>
        </p:nvCxnSpPr>
        <p:spPr bwMode="auto">
          <a:xfrm flipH="1">
            <a:off x="990600" y="3600450"/>
            <a:ext cx="533400" cy="34290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0" name="Text Box 30"/>
          <p:cNvSpPr txBox="1">
            <a:spLocks noChangeArrowheads="1"/>
          </p:cNvSpPr>
          <p:nvPr/>
        </p:nvSpPr>
        <p:spPr bwMode="auto">
          <a:xfrm>
            <a:off x="76200" y="4724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Yes</a:t>
            </a:r>
          </a:p>
        </p:txBody>
      </p:sp>
      <p:sp>
        <p:nvSpPr>
          <p:cNvPr id="251" name="Text Box 31"/>
          <p:cNvSpPr txBox="1">
            <a:spLocks noChangeArrowheads="1"/>
          </p:cNvSpPr>
          <p:nvPr/>
        </p:nvSpPr>
        <p:spPr bwMode="auto">
          <a:xfrm>
            <a:off x="2819400" y="240665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No</a:t>
            </a:r>
          </a:p>
        </p:txBody>
      </p:sp>
      <p:sp>
        <p:nvSpPr>
          <p:cNvPr id="252" name="Text Box 32"/>
          <p:cNvSpPr txBox="1">
            <a:spLocks noChangeArrowheads="1"/>
          </p:cNvSpPr>
          <p:nvPr/>
        </p:nvSpPr>
        <p:spPr bwMode="auto">
          <a:xfrm>
            <a:off x="3200400" y="3581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No</a:t>
            </a:r>
          </a:p>
        </p:txBody>
      </p:sp>
      <p:sp>
        <p:nvSpPr>
          <p:cNvPr id="253" name="Text Box 33"/>
          <p:cNvSpPr txBox="1">
            <a:spLocks noChangeArrowheads="1"/>
          </p:cNvSpPr>
          <p:nvPr/>
        </p:nvSpPr>
        <p:spPr bwMode="auto">
          <a:xfrm>
            <a:off x="1828800" y="36576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0000"/>
                </a:solidFill>
                <a:latin typeface="Arial" charset="0"/>
              </a:rPr>
              <a:t>No</a:t>
            </a:r>
          </a:p>
        </p:txBody>
      </p:sp>
      <p:sp>
        <p:nvSpPr>
          <p:cNvPr id="254" name="Text Box 34"/>
          <p:cNvSpPr txBox="1">
            <a:spLocks noChangeArrowheads="1"/>
          </p:cNvSpPr>
          <p:nvPr/>
        </p:nvSpPr>
        <p:spPr bwMode="auto">
          <a:xfrm>
            <a:off x="1219200" y="4724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No</a:t>
            </a:r>
          </a:p>
        </p:txBody>
      </p:sp>
      <p:sp>
        <p:nvSpPr>
          <p:cNvPr id="255" name="Text Box 35"/>
          <p:cNvSpPr txBox="1">
            <a:spLocks noChangeArrowheads="1"/>
          </p:cNvSpPr>
          <p:nvPr/>
        </p:nvSpPr>
        <p:spPr bwMode="auto">
          <a:xfrm>
            <a:off x="685800" y="3581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Yes</a:t>
            </a:r>
          </a:p>
        </p:txBody>
      </p:sp>
      <p:sp>
        <p:nvSpPr>
          <p:cNvPr id="256" name="Text Box 36"/>
          <p:cNvSpPr txBox="1">
            <a:spLocks noChangeArrowheads="1"/>
          </p:cNvSpPr>
          <p:nvPr/>
        </p:nvSpPr>
        <p:spPr bwMode="auto">
          <a:xfrm>
            <a:off x="2438400" y="35814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ysClr val="windowText" lastClr="000000"/>
                </a:solidFill>
                <a:latin typeface="Arial" charset="0"/>
              </a:rPr>
              <a:t>Yes</a:t>
            </a:r>
          </a:p>
        </p:txBody>
      </p:sp>
      <p:sp>
        <p:nvSpPr>
          <p:cNvPr id="257" name="Text Box 37"/>
          <p:cNvSpPr txBox="1">
            <a:spLocks noChangeArrowheads="1"/>
          </p:cNvSpPr>
          <p:nvPr/>
        </p:nvSpPr>
        <p:spPr bwMode="auto">
          <a:xfrm>
            <a:off x="1371600" y="240665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400" kern="0">
                <a:solidFill>
                  <a:srgbClr val="FF0000"/>
                </a:solidFill>
                <a:latin typeface="Arial" charset="0"/>
              </a:rPr>
              <a:t>Yes</a:t>
            </a:r>
          </a:p>
        </p:txBody>
      </p:sp>
      <p:grpSp>
        <p:nvGrpSpPr>
          <p:cNvPr id="57383" name="Group 38"/>
          <p:cNvGrpSpPr>
            <a:grpSpLocks/>
          </p:cNvGrpSpPr>
          <p:nvPr/>
        </p:nvGrpSpPr>
        <p:grpSpPr bwMode="auto">
          <a:xfrm>
            <a:off x="2654300" y="3970338"/>
            <a:ext cx="328613" cy="762000"/>
            <a:chOff x="1672" y="2933"/>
            <a:chExt cx="207" cy="480"/>
          </a:xfrm>
        </p:grpSpPr>
        <p:grpSp>
          <p:nvGrpSpPr>
            <p:cNvPr id="57451" name="Group 39"/>
            <p:cNvGrpSpPr>
              <a:grpSpLocks/>
            </p:cNvGrpSpPr>
            <p:nvPr/>
          </p:nvGrpSpPr>
          <p:grpSpPr bwMode="auto">
            <a:xfrm>
              <a:off x="1703" y="3018"/>
              <a:ext cx="191" cy="336"/>
              <a:chOff x="2017" y="2928"/>
              <a:chExt cx="143" cy="336"/>
            </a:xfrm>
          </p:grpSpPr>
          <p:sp>
            <p:nvSpPr>
              <p:cNvPr id="261" name="Rectangle 40"/>
              <p:cNvSpPr>
                <a:spLocks noChangeArrowheads="1"/>
              </p:cNvSpPr>
              <p:nvPr/>
            </p:nvSpPr>
            <p:spPr bwMode="auto">
              <a:xfrm>
                <a:off x="2112" y="3216"/>
                <a:ext cx="48" cy="48"/>
              </a:xfrm>
              <a:prstGeom prst="rect">
                <a:avLst/>
              </a:prstGeom>
              <a:solidFill>
                <a:srgbClr val="5D7CD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62" name="Rectangle 41"/>
              <p:cNvSpPr>
                <a:spLocks noChangeArrowheads="1"/>
              </p:cNvSpPr>
              <p:nvPr/>
            </p:nvSpPr>
            <p:spPr bwMode="auto">
              <a:xfrm>
                <a:off x="2064" y="3168"/>
                <a:ext cx="48" cy="96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63" name="Rectangle 42"/>
              <p:cNvSpPr>
                <a:spLocks noChangeArrowheads="1"/>
              </p:cNvSpPr>
              <p:nvPr/>
            </p:nvSpPr>
            <p:spPr bwMode="auto">
              <a:xfrm>
                <a:off x="2017" y="2928"/>
                <a:ext cx="48" cy="336"/>
              </a:xfrm>
              <a:prstGeom prst="rect">
                <a:avLst/>
              </a:prstGeom>
              <a:solidFill>
                <a:srgbClr val="20B43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</p:grpSp>
        <p:sp>
          <p:nvSpPr>
            <p:cNvPr id="260" name="AutoShape 43"/>
            <p:cNvSpPr>
              <a:spLocks noChangeArrowheads="1"/>
            </p:cNvSpPr>
            <p:nvPr/>
          </p:nvSpPr>
          <p:spPr bwMode="auto">
            <a:xfrm>
              <a:off x="1672" y="2933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grpSp>
        <p:nvGrpSpPr>
          <p:cNvPr id="57384" name="Group 44"/>
          <p:cNvGrpSpPr>
            <a:grpSpLocks/>
          </p:cNvGrpSpPr>
          <p:nvPr/>
        </p:nvGrpSpPr>
        <p:grpSpPr bwMode="auto">
          <a:xfrm>
            <a:off x="3200400" y="3984625"/>
            <a:ext cx="304800" cy="762000"/>
            <a:chOff x="2016" y="2942"/>
            <a:chExt cx="192" cy="480"/>
          </a:xfrm>
        </p:grpSpPr>
        <p:grpSp>
          <p:nvGrpSpPr>
            <p:cNvPr id="57446" name="Group 45"/>
            <p:cNvGrpSpPr>
              <a:grpSpLocks/>
            </p:cNvGrpSpPr>
            <p:nvPr/>
          </p:nvGrpSpPr>
          <p:grpSpPr bwMode="auto">
            <a:xfrm>
              <a:off x="2032" y="3114"/>
              <a:ext cx="191" cy="240"/>
              <a:chOff x="2305" y="3024"/>
              <a:chExt cx="143" cy="240"/>
            </a:xfrm>
          </p:grpSpPr>
          <p:sp>
            <p:nvSpPr>
              <p:cNvPr id="267" name="Rectangle 46"/>
              <p:cNvSpPr>
                <a:spLocks noChangeArrowheads="1"/>
              </p:cNvSpPr>
              <p:nvPr/>
            </p:nvSpPr>
            <p:spPr bwMode="auto">
              <a:xfrm>
                <a:off x="2400" y="3216"/>
                <a:ext cx="48" cy="48"/>
              </a:xfrm>
              <a:prstGeom prst="rect">
                <a:avLst/>
              </a:prstGeom>
              <a:solidFill>
                <a:srgbClr val="5D7CD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68" name="Rectangle 47"/>
              <p:cNvSpPr>
                <a:spLocks noChangeArrowheads="1"/>
              </p:cNvSpPr>
              <p:nvPr/>
            </p:nvSpPr>
            <p:spPr bwMode="auto">
              <a:xfrm>
                <a:off x="2352" y="3024"/>
                <a:ext cx="48" cy="240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69" name="Rectangle 48"/>
              <p:cNvSpPr>
                <a:spLocks noChangeArrowheads="1"/>
              </p:cNvSpPr>
              <p:nvPr/>
            </p:nvSpPr>
            <p:spPr bwMode="auto">
              <a:xfrm>
                <a:off x="2305" y="3024"/>
                <a:ext cx="47" cy="240"/>
              </a:xfrm>
              <a:prstGeom prst="rect">
                <a:avLst/>
              </a:prstGeom>
              <a:solidFill>
                <a:srgbClr val="20B43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</p:grpSp>
        <p:sp>
          <p:nvSpPr>
            <p:cNvPr id="266" name="AutoShape 49"/>
            <p:cNvSpPr>
              <a:spLocks noChangeArrowheads="1"/>
            </p:cNvSpPr>
            <p:nvPr/>
          </p:nvSpPr>
          <p:spPr bwMode="auto">
            <a:xfrm>
              <a:off x="2016" y="2942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grpSp>
        <p:nvGrpSpPr>
          <p:cNvPr id="57385" name="Group 50"/>
          <p:cNvGrpSpPr>
            <a:grpSpLocks/>
          </p:cNvGrpSpPr>
          <p:nvPr/>
        </p:nvGrpSpPr>
        <p:grpSpPr bwMode="auto">
          <a:xfrm>
            <a:off x="1905000" y="3973513"/>
            <a:ext cx="304800" cy="762000"/>
            <a:chOff x="1200" y="2935"/>
            <a:chExt cx="192" cy="480"/>
          </a:xfrm>
        </p:grpSpPr>
        <p:grpSp>
          <p:nvGrpSpPr>
            <p:cNvPr id="57441" name="Group 51"/>
            <p:cNvGrpSpPr>
              <a:grpSpLocks/>
            </p:cNvGrpSpPr>
            <p:nvPr/>
          </p:nvGrpSpPr>
          <p:grpSpPr bwMode="auto">
            <a:xfrm>
              <a:off x="1208" y="3072"/>
              <a:ext cx="191" cy="288"/>
              <a:chOff x="1249" y="3024"/>
              <a:chExt cx="143" cy="288"/>
            </a:xfrm>
          </p:grpSpPr>
          <p:sp>
            <p:nvSpPr>
              <p:cNvPr id="273" name="Rectangle 52"/>
              <p:cNvSpPr>
                <a:spLocks noChangeArrowheads="1"/>
              </p:cNvSpPr>
              <p:nvPr/>
            </p:nvSpPr>
            <p:spPr bwMode="auto">
              <a:xfrm>
                <a:off x="1344" y="3120"/>
                <a:ext cx="48" cy="192"/>
              </a:xfrm>
              <a:prstGeom prst="rect">
                <a:avLst/>
              </a:prstGeom>
              <a:solidFill>
                <a:srgbClr val="5D7CD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74" name="Rectangle 53"/>
              <p:cNvSpPr>
                <a:spLocks noChangeArrowheads="1"/>
              </p:cNvSpPr>
              <p:nvPr/>
            </p:nvSpPr>
            <p:spPr bwMode="auto">
              <a:xfrm>
                <a:off x="1296" y="3024"/>
                <a:ext cx="48" cy="28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75" name="Rectangle 54"/>
              <p:cNvSpPr>
                <a:spLocks noChangeArrowheads="1"/>
              </p:cNvSpPr>
              <p:nvPr/>
            </p:nvSpPr>
            <p:spPr bwMode="auto">
              <a:xfrm>
                <a:off x="1249" y="3264"/>
                <a:ext cx="47" cy="48"/>
              </a:xfrm>
              <a:prstGeom prst="rect">
                <a:avLst/>
              </a:prstGeom>
              <a:solidFill>
                <a:srgbClr val="20B43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</p:grpSp>
        <p:sp>
          <p:nvSpPr>
            <p:cNvPr id="272" name="AutoShape 55"/>
            <p:cNvSpPr>
              <a:spLocks noChangeArrowheads="1"/>
            </p:cNvSpPr>
            <p:nvPr/>
          </p:nvSpPr>
          <p:spPr bwMode="auto">
            <a:xfrm>
              <a:off x="1200" y="2935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grpSp>
        <p:nvGrpSpPr>
          <p:cNvPr id="57386" name="Group 56"/>
          <p:cNvGrpSpPr>
            <a:grpSpLocks/>
          </p:cNvGrpSpPr>
          <p:nvPr/>
        </p:nvGrpSpPr>
        <p:grpSpPr bwMode="auto">
          <a:xfrm>
            <a:off x="1219200" y="5038725"/>
            <a:ext cx="304800" cy="762000"/>
            <a:chOff x="768" y="3606"/>
            <a:chExt cx="192" cy="480"/>
          </a:xfrm>
        </p:grpSpPr>
        <p:grpSp>
          <p:nvGrpSpPr>
            <p:cNvPr id="57436" name="Group 57"/>
            <p:cNvGrpSpPr>
              <a:grpSpLocks/>
            </p:cNvGrpSpPr>
            <p:nvPr/>
          </p:nvGrpSpPr>
          <p:grpSpPr bwMode="auto">
            <a:xfrm>
              <a:off x="773" y="3792"/>
              <a:ext cx="191" cy="240"/>
              <a:chOff x="721" y="3744"/>
              <a:chExt cx="143" cy="240"/>
            </a:xfrm>
          </p:grpSpPr>
          <p:sp>
            <p:nvSpPr>
              <p:cNvPr id="279" name="Rectangle 58"/>
              <p:cNvSpPr>
                <a:spLocks noChangeArrowheads="1"/>
              </p:cNvSpPr>
              <p:nvPr/>
            </p:nvSpPr>
            <p:spPr bwMode="auto">
              <a:xfrm>
                <a:off x="816" y="3744"/>
                <a:ext cx="48" cy="240"/>
              </a:xfrm>
              <a:prstGeom prst="rect">
                <a:avLst/>
              </a:prstGeom>
              <a:solidFill>
                <a:srgbClr val="5D7CD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80" name="Rectangle 59"/>
              <p:cNvSpPr>
                <a:spLocks noChangeArrowheads="1"/>
              </p:cNvSpPr>
              <p:nvPr/>
            </p:nvSpPr>
            <p:spPr bwMode="auto">
              <a:xfrm>
                <a:off x="768" y="3792"/>
                <a:ext cx="48" cy="192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81" name="Rectangle 60"/>
              <p:cNvSpPr>
                <a:spLocks noChangeArrowheads="1"/>
              </p:cNvSpPr>
              <p:nvPr/>
            </p:nvSpPr>
            <p:spPr bwMode="auto">
              <a:xfrm>
                <a:off x="721" y="3936"/>
                <a:ext cx="47" cy="48"/>
              </a:xfrm>
              <a:prstGeom prst="rect">
                <a:avLst/>
              </a:prstGeom>
              <a:solidFill>
                <a:srgbClr val="20B43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</p:grpSp>
        <p:sp>
          <p:nvSpPr>
            <p:cNvPr id="278" name="AutoShape 61"/>
            <p:cNvSpPr>
              <a:spLocks noChangeArrowheads="1"/>
            </p:cNvSpPr>
            <p:nvPr/>
          </p:nvSpPr>
          <p:spPr bwMode="auto">
            <a:xfrm>
              <a:off x="768" y="3606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grpSp>
        <p:nvGrpSpPr>
          <p:cNvPr id="57387" name="Group 62"/>
          <p:cNvGrpSpPr>
            <a:grpSpLocks/>
          </p:cNvGrpSpPr>
          <p:nvPr/>
        </p:nvGrpSpPr>
        <p:grpSpPr bwMode="auto">
          <a:xfrm>
            <a:off x="381000" y="5029200"/>
            <a:ext cx="325438" cy="762000"/>
            <a:chOff x="240" y="3600"/>
            <a:chExt cx="205" cy="480"/>
          </a:xfrm>
        </p:grpSpPr>
        <p:grpSp>
          <p:nvGrpSpPr>
            <p:cNvPr id="57431" name="Group 63"/>
            <p:cNvGrpSpPr>
              <a:grpSpLocks/>
            </p:cNvGrpSpPr>
            <p:nvPr/>
          </p:nvGrpSpPr>
          <p:grpSpPr bwMode="auto">
            <a:xfrm>
              <a:off x="242" y="3744"/>
              <a:ext cx="191" cy="288"/>
              <a:chOff x="289" y="3696"/>
              <a:chExt cx="143" cy="288"/>
            </a:xfrm>
          </p:grpSpPr>
          <p:sp>
            <p:nvSpPr>
              <p:cNvPr id="285" name="Rectangle 64"/>
              <p:cNvSpPr>
                <a:spLocks noChangeArrowheads="1"/>
              </p:cNvSpPr>
              <p:nvPr/>
            </p:nvSpPr>
            <p:spPr bwMode="auto">
              <a:xfrm>
                <a:off x="384" y="3696"/>
                <a:ext cx="48" cy="288"/>
              </a:xfrm>
              <a:prstGeom prst="rect">
                <a:avLst/>
              </a:prstGeom>
              <a:solidFill>
                <a:srgbClr val="5D7CD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86" name="Rectangle 65"/>
              <p:cNvSpPr>
                <a:spLocks noChangeArrowheads="1"/>
              </p:cNvSpPr>
              <p:nvPr/>
            </p:nvSpPr>
            <p:spPr bwMode="auto">
              <a:xfrm>
                <a:off x="336" y="3888"/>
                <a:ext cx="48" cy="96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  <p:sp>
            <p:nvSpPr>
              <p:cNvPr id="287" name="Rectangle 66"/>
              <p:cNvSpPr>
                <a:spLocks noChangeArrowheads="1"/>
              </p:cNvSpPr>
              <p:nvPr/>
            </p:nvSpPr>
            <p:spPr bwMode="auto">
              <a:xfrm>
                <a:off x="289" y="3936"/>
                <a:ext cx="47" cy="48"/>
              </a:xfrm>
              <a:prstGeom prst="rect">
                <a:avLst/>
              </a:prstGeom>
              <a:solidFill>
                <a:srgbClr val="20B43C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  <a:latin typeface="Arial" charset="0"/>
                </a:endParaRPr>
              </a:p>
            </p:txBody>
          </p:sp>
        </p:grpSp>
        <p:sp>
          <p:nvSpPr>
            <p:cNvPr id="284" name="AutoShape 67"/>
            <p:cNvSpPr>
              <a:spLocks noChangeArrowheads="1"/>
            </p:cNvSpPr>
            <p:nvPr/>
          </p:nvSpPr>
          <p:spPr bwMode="auto">
            <a:xfrm>
              <a:off x="253" y="3600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cxnSp>
        <p:nvCxnSpPr>
          <p:cNvPr id="57388" name="AutoShape 68"/>
          <p:cNvCxnSpPr>
            <a:cxnSpLocks noChangeShapeType="1"/>
            <a:stCxn id="244" idx="2"/>
            <a:endCxn id="272" idx="0"/>
          </p:cNvCxnSpPr>
          <p:nvPr/>
        </p:nvCxnSpPr>
        <p:spPr bwMode="auto">
          <a:xfrm>
            <a:off x="1524000" y="3600450"/>
            <a:ext cx="533400" cy="373063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89" name="AutoShape 69"/>
          <p:cNvCxnSpPr>
            <a:cxnSpLocks noChangeShapeType="1"/>
            <a:stCxn id="245" idx="2"/>
            <a:endCxn id="260" idx="0"/>
          </p:cNvCxnSpPr>
          <p:nvPr/>
        </p:nvCxnSpPr>
        <p:spPr bwMode="auto">
          <a:xfrm flipH="1">
            <a:off x="2806700" y="3600450"/>
            <a:ext cx="317500" cy="369888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90" name="AutoShape 70"/>
          <p:cNvCxnSpPr>
            <a:cxnSpLocks noChangeShapeType="1"/>
            <a:stCxn id="245" idx="2"/>
            <a:endCxn id="266" idx="0"/>
          </p:cNvCxnSpPr>
          <p:nvPr/>
        </p:nvCxnSpPr>
        <p:spPr bwMode="auto">
          <a:xfrm>
            <a:off x="3124200" y="3600450"/>
            <a:ext cx="228600" cy="3841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91" name="AutoShape 71"/>
          <p:cNvCxnSpPr>
            <a:cxnSpLocks noChangeShapeType="1"/>
            <a:stCxn id="246" idx="2"/>
            <a:endCxn id="284" idx="0"/>
          </p:cNvCxnSpPr>
          <p:nvPr/>
        </p:nvCxnSpPr>
        <p:spPr bwMode="auto">
          <a:xfrm flipH="1">
            <a:off x="554038" y="4743450"/>
            <a:ext cx="436562" cy="28575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92" name="AutoShape 72"/>
          <p:cNvCxnSpPr>
            <a:cxnSpLocks noChangeShapeType="1"/>
            <a:stCxn id="246" idx="2"/>
            <a:endCxn id="278" idx="0"/>
          </p:cNvCxnSpPr>
          <p:nvPr/>
        </p:nvCxnSpPr>
        <p:spPr bwMode="auto">
          <a:xfrm>
            <a:off x="990600" y="4743450"/>
            <a:ext cx="381000" cy="295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3" name="Oval 73"/>
          <p:cNvSpPr>
            <a:spLocks noChangeArrowheads="1"/>
          </p:cNvSpPr>
          <p:nvPr/>
        </p:nvSpPr>
        <p:spPr bwMode="auto">
          <a:xfrm>
            <a:off x="1828800" y="4038600"/>
            <a:ext cx="4572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</a:endParaRPr>
          </a:p>
        </p:txBody>
      </p:sp>
      <p:grpSp>
        <p:nvGrpSpPr>
          <p:cNvPr id="57394" name="Group 74"/>
          <p:cNvGrpSpPr>
            <a:grpSpLocks/>
          </p:cNvGrpSpPr>
          <p:nvPr/>
        </p:nvGrpSpPr>
        <p:grpSpPr bwMode="auto">
          <a:xfrm>
            <a:off x="7859713" y="5105400"/>
            <a:ext cx="317500" cy="762000"/>
            <a:chOff x="4951" y="3216"/>
            <a:chExt cx="200" cy="480"/>
          </a:xfrm>
        </p:grpSpPr>
        <p:sp>
          <p:nvSpPr>
            <p:cNvPr id="295" name="Rectangle 75"/>
            <p:cNvSpPr>
              <a:spLocks noChangeArrowheads="1"/>
            </p:cNvSpPr>
            <p:nvPr/>
          </p:nvSpPr>
          <p:spPr bwMode="auto">
            <a:xfrm>
              <a:off x="5087" y="3589"/>
              <a:ext cx="64" cy="48"/>
            </a:xfrm>
            <a:prstGeom prst="rect">
              <a:avLst/>
            </a:prstGeom>
            <a:solidFill>
              <a:srgbClr val="5D7C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296" name="Rectangle 76"/>
            <p:cNvSpPr>
              <a:spLocks noChangeArrowheads="1"/>
            </p:cNvSpPr>
            <p:nvPr/>
          </p:nvSpPr>
          <p:spPr bwMode="auto">
            <a:xfrm>
              <a:off x="5030" y="3456"/>
              <a:ext cx="58" cy="181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297" name="Rectangle 77"/>
            <p:cNvSpPr>
              <a:spLocks noChangeArrowheads="1"/>
            </p:cNvSpPr>
            <p:nvPr/>
          </p:nvSpPr>
          <p:spPr bwMode="auto">
            <a:xfrm>
              <a:off x="4961" y="3360"/>
              <a:ext cx="63" cy="282"/>
            </a:xfrm>
            <a:prstGeom prst="rect">
              <a:avLst/>
            </a:prstGeom>
            <a:solidFill>
              <a:srgbClr val="20B43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298" name="AutoShape 78"/>
            <p:cNvSpPr>
              <a:spLocks noChangeArrowheads="1"/>
            </p:cNvSpPr>
            <p:nvPr/>
          </p:nvSpPr>
          <p:spPr bwMode="auto">
            <a:xfrm>
              <a:off x="4951" y="3216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grpSp>
        <p:nvGrpSpPr>
          <p:cNvPr id="57395" name="Group 79"/>
          <p:cNvGrpSpPr>
            <a:grpSpLocks/>
          </p:cNvGrpSpPr>
          <p:nvPr/>
        </p:nvGrpSpPr>
        <p:grpSpPr bwMode="auto">
          <a:xfrm>
            <a:off x="8534400" y="4114800"/>
            <a:ext cx="304800" cy="762000"/>
            <a:chOff x="5376" y="2592"/>
            <a:chExt cx="192" cy="480"/>
          </a:xfrm>
        </p:grpSpPr>
        <p:sp>
          <p:nvSpPr>
            <p:cNvPr id="300" name="Rectangle 80"/>
            <p:cNvSpPr>
              <a:spLocks noChangeArrowheads="1"/>
            </p:cNvSpPr>
            <p:nvPr/>
          </p:nvSpPr>
          <p:spPr bwMode="auto">
            <a:xfrm>
              <a:off x="5495" y="2784"/>
              <a:ext cx="63" cy="220"/>
            </a:xfrm>
            <a:prstGeom prst="rect">
              <a:avLst/>
            </a:prstGeom>
            <a:solidFill>
              <a:srgbClr val="5D7C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01" name="Rectangle 81"/>
            <p:cNvSpPr>
              <a:spLocks noChangeArrowheads="1"/>
            </p:cNvSpPr>
            <p:nvPr/>
          </p:nvSpPr>
          <p:spPr bwMode="auto">
            <a:xfrm>
              <a:off x="5438" y="2832"/>
              <a:ext cx="63" cy="172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02" name="Rectangle 82"/>
            <p:cNvSpPr>
              <a:spLocks noChangeArrowheads="1"/>
            </p:cNvSpPr>
            <p:nvPr/>
          </p:nvSpPr>
          <p:spPr bwMode="auto">
            <a:xfrm>
              <a:off x="5376" y="2784"/>
              <a:ext cx="63" cy="220"/>
            </a:xfrm>
            <a:prstGeom prst="rect">
              <a:avLst/>
            </a:prstGeom>
            <a:solidFill>
              <a:srgbClr val="20B43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03" name="AutoShape 83"/>
            <p:cNvSpPr>
              <a:spLocks noChangeArrowheads="1"/>
            </p:cNvSpPr>
            <p:nvPr/>
          </p:nvSpPr>
          <p:spPr bwMode="auto">
            <a:xfrm>
              <a:off x="5376" y="2592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grpSp>
        <p:nvGrpSpPr>
          <p:cNvPr id="57396" name="Group 84"/>
          <p:cNvGrpSpPr>
            <a:grpSpLocks/>
          </p:cNvGrpSpPr>
          <p:nvPr/>
        </p:nvGrpSpPr>
        <p:grpSpPr bwMode="auto">
          <a:xfrm>
            <a:off x="6477000" y="3973513"/>
            <a:ext cx="304800" cy="762000"/>
            <a:chOff x="4080" y="2503"/>
            <a:chExt cx="192" cy="480"/>
          </a:xfrm>
        </p:grpSpPr>
        <p:sp>
          <p:nvSpPr>
            <p:cNvPr id="305" name="Rectangle 85"/>
            <p:cNvSpPr>
              <a:spLocks noChangeArrowheads="1"/>
            </p:cNvSpPr>
            <p:nvPr/>
          </p:nvSpPr>
          <p:spPr bwMode="auto">
            <a:xfrm>
              <a:off x="4087" y="2688"/>
              <a:ext cx="58" cy="240"/>
            </a:xfrm>
            <a:prstGeom prst="rect">
              <a:avLst/>
            </a:prstGeom>
            <a:solidFill>
              <a:srgbClr val="20B43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06" name="Rectangle 86"/>
            <p:cNvSpPr>
              <a:spLocks noChangeArrowheads="1"/>
            </p:cNvSpPr>
            <p:nvPr/>
          </p:nvSpPr>
          <p:spPr bwMode="auto">
            <a:xfrm>
              <a:off x="4198" y="2784"/>
              <a:ext cx="53" cy="144"/>
            </a:xfrm>
            <a:prstGeom prst="rect">
              <a:avLst/>
            </a:prstGeom>
            <a:solidFill>
              <a:srgbClr val="5D7C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07" name="Rectangle 87"/>
            <p:cNvSpPr>
              <a:spLocks noChangeArrowheads="1"/>
            </p:cNvSpPr>
            <p:nvPr/>
          </p:nvSpPr>
          <p:spPr bwMode="auto">
            <a:xfrm>
              <a:off x="4142" y="2736"/>
              <a:ext cx="55" cy="192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08" name="AutoShape 88"/>
            <p:cNvSpPr>
              <a:spLocks noChangeArrowheads="1"/>
            </p:cNvSpPr>
            <p:nvPr/>
          </p:nvSpPr>
          <p:spPr bwMode="auto">
            <a:xfrm>
              <a:off x="4080" y="2503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grpSp>
        <p:nvGrpSpPr>
          <p:cNvPr id="57397" name="Group 89"/>
          <p:cNvGrpSpPr>
            <a:grpSpLocks/>
          </p:cNvGrpSpPr>
          <p:nvPr/>
        </p:nvGrpSpPr>
        <p:grpSpPr bwMode="auto">
          <a:xfrm>
            <a:off x="5965825" y="3973513"/>
            <a:ext cx="304800" cy="762000"/>
            <a:chOff x="3758" y="2503"/>
            <a:chExt cx="192" cy="480"/>
          </a:xfrm>
        </p:grpSpPr>
        <p:sp>
          <p:nvSpPr>
            <p:cNvPr id="310" name="Rectangle 90"/>
            <p:cNvSpPr>
              <a:spLocks noChangeArrowheads="1"/>
            </p:cNvSpPr>
            <p:nvPr/>
          </p:nvSpPr>
          <p:spPr bwMode="auto">
            <a:xfrm>
              <a:off x="3824" y="2736"/>
              <a:ext cx="64" cy="193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11" name="Rectangle 91"/>
            <p:cNvSpPr>
              <a:spLocks noChangeArrowheads="1"/>
            </p:cNvSpPr>
            <p:nvPr/>
          </p:nvSpPr>
          <p:spPr bwMode="auto">
            <a:xfrm>
              <a:off x="3884" y="2640"/>
              <a:ext cx="52" cy="289"/>
            </a:xfrm>
            <a:prstGeom prst="rect">
              <a:avLst/>
            </a:prstGeom>
            <a:solidFill>
              <a:srgbClr val="5D7C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12" name="Rectangle 92"/>
            <p:cNvSpPr>
              <a:spLocks noChangeArrowheads="1"/>
            </p:cNvSpPr>
            <p:nvPr/>
          </p:nvSpPr>
          <p:spPr bwMode="auto">
            <a:xfrm>
              <a:off x="3758" y="2881"/>
              <a:ext cx="62" cy="48"/>
            </a:xfrm>
            <a:prstGeom prst="rect">
              <a:avLst/>
            </a:prstGeom>
            <a:solidFill>
              <a:srgbClr val="20B43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13" name="AutoShape 93"/>
            <p:cNvSpPr>
              <a:spLocks noChangeArrowheads="1"/>
            </p:cNvSpPr>
            <p:nvPr/>
          </p:nvSpPr>
          <p:spPr bwMode="auto">
            <a:xfrm>
              <a:off x="3758" y="2503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grpSp>
        <p:nvGrpSpPr>
          <p:cNvPr id="57398" name="Group 94"/>
          <p:cNvGrpSpPr>
            <a:grpSpLocks/>
          </p:cNvGrpSpPr>
          <p:nvPr/>
        </p:nvGrpSpPr>
        <p:grpSpPr bwMode="auto">
          <a:xfrm>
            <a:off x="7194550" y="5094288"/>
            <a:ext cx="325438" cy="762000"/>
            <a:chOff x="4532" y="3209"/>
            <a:chExt cx="205" cy="480"/>
          </a:xfrm>
        </p:grpSpPr>
        <p:sp>
          <p:nvSpPr>
            <p:cNvPr id="315" name="Rectangle 95"/>
            <p:cNvSpPr>
              <a:spLocks noChangeArrowheads="1"/>
            </p:cNvSpPr>
            <p:nvPr/>
          </p:nvSpPr>
          <p:spPr bwMode="auto">
            <a:xfrm>
              <a:off x="4651" y="3552"/>
              <a:ext cx="56" cy="89"/>
            </a:xfrm>
            <a:prstGeom prst="rect">
              <a:avLst/>
            </a:prstGeom>
            <a:solidFill>
              <a:srgbClr val="5D7C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16" name="Rectangle 96"/>
            <p:cNvSpPr>
              <a:spLocks noChangeArrowheads="1"/>
            </p:cNvSpPr>
            <p:nvPr/>
          </p:nvSpPr>
          <p:spPr bwMode="auto">
            <a:xfrm>
              <a:off x="4594" y="3312"/>
              <a:ext cx="62" cy="32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17" name="Rectangle 97"/>
            <p:cNvSpPr>
              <a:spLocks noChangeArrowheads="1"/>
            </p:cNvSpPr>
            <p:nvPr/>
          </p:nvSpPr>
          <p:spPr bwMode="auto">
            <a:xfrm>
              <a:off x="4532" y="3593"/>
              <a:ext cx="62" cy="48"/>
            </a:xfrm>
            <a:prstGeom prst="rect">
              <a:avLst/>
            </a:prstGeom>
            <a:solidFill>
              <a:srgbClr val="20B43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  <p:sp>
          <p:nvSpPr>
            <p:cNvPr id="318" name="AutoShape 98"/>
            <p:cNvSpPr>
              <a:spLocks noChangeArrowheads="1"/>
            </p:cNvSpPr>
            <p:nvPr/>
          </p:nvSpPr>
          <p:spPr bwMode="auto">
            <a:xfrm>
              <a:off x="4545" y="3209"/>
              <a:ext cx="192" cy="480"/>
            </a:xfrm>
            <a:prstGeom prst="roundRect">
              <a:avLst>
                <a:gd name="adj" fmla="val 16667"/>
              </a:avLst>
            </a:prstGeom>
            <a:noFill/>
            <a:ln w="381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  <a:latin typeface="Arial" charset="0"/>
              </a:endParaRPr>
            </a:p>
          </p:txBody>
        </p:sp>
      </p:grpSp>
      <p:sp>
        <p:nvSpPr>
          <p:cNvPr id="319" name="Oval 99"/>
          <p:cNvSpPr>
            <a:spLocks noChangeArrowheads="1"/>
          </p:cNvSpPr>
          <p:nvPr/>
        </p:nvSpPr>
        <p:spPr bwMode="auto">
          <a:xfrm>
            <a:off x="7097713" y="5181600"/>
            <a:ext cx="4572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</a:endParaRPr>
          </a:p>
        </p:txBody>
      </p:sp>
      <p:sp>
        <p:nvSpPr>
          <p:cNvPr id="320" name="Rectangle 101"/>
          <p:cNvSpPr>
            <a:spLocks noChangeArrowheads="1"/>
          </p:cNvSpPr>
          <p:nvPr/>
        </p:nvSpPr>
        <p:spPr bwMode="auto">
          <a:xfrm>
            <a:off x="4695825" y="5486400"/>
            <a:ext cx="180975" cy="219075"/>
          </a:xfrm>
          <a:prstGeom prst="rect">
            <a:avLst/>
          </a:prstGeom>
          <a:solidFill>
            <a:srgbClr val="5D7CD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</a:endParaRPr>
          </a:p>
        </p:txBody>
      </p:sp>
      <p:sp>
        <p:nvSpPr>
          <p:cNvPr id="321" name="Rectangle 102"/>
          <p:cNvSpPr>
            <a:spLocks noChangeArrowheads="1"/>
          </p:cNvSpPr>
          <p:nvPr/>
        </p:nvSpPr>
        <p:spPr bwMode="auto">
          <a:xfrm>
            <a:off x="4521200" y="4724400"/>
            <a:ext cx="173038" cy="98107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</a:endParaRPr>
          </a:p>
        </p:txBody>
      </p:sp>
      <p:sp>
        <p:nvSpPr>
          <p:cNvPr id="322" name="Rectangle 103"/>
          <p:cNvSpPr>
            <a:spLocks noChangeArrowheads="1"/>
          </p:cNvSpPr>
          <p:nvPr/>
        </p:nvSpPr>
        <p:spPr bwMode="auto">
          <a:xfrm>
            <a:off x="4352925" y="5576888"/>
            <a:ext cx="173038" cy="128587"/>
          </a:xfrm>
          <a:prstGeom prst="rect">
            <a:avLst/>
          </a:prstGeom>
          <a:solidFill>
            <a:srgbClr val="20B43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</a:endParaRPr>
          </a:p>
        </p:txBody>
      </p:sp>
      <p:sp>
        <p:nvSpPr>
          <p:cNvPr id="323" name="AutoShape 104"/>
          <p:cNvSpPr>
            <a:spLocks noChangeArrowheads="1"/>
          </p:cNvSpPr>
          <p:nvPr/>
        </p:nvSpPr>
        <p:spPr bwMode="auto">
          <a:xfrm>
            <a:off x="4351338" y="4724400"/>
            <a:ext cx="525462" cy="1143000"/>
          </a:xfrm>
          <a:prstGeom prst="roundRect">
            <a:avLst>
              <a:gd name="adj" fmla="val 16667"/>
            </a:avLst>
          </a:prstGeom>
          <a:noFill/>
          <a:ln w="381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ysClr val="windowText" lastClr="000000"/>
              </a:solidFill>
              <a:latin typeface="Arial" charset="0"/>
            </a:endParaRPr>
          </a:p>
        </p:txBody>
      </p:sp>
      <p:cxnSp>
        <p:nvCxnSpPr>
          <p:cNvPr id="57404" name="AutoShape 105"/>
          <p:cNvCxnSpPr>
            <a:cxnSpLocks noChangeShapeType="1"/>
            <a:stCxn id="293" idx="4"/>
            <a:endCxn id="323" idx="1"/>
          </p:cNvCxnSpPr>
          <p:nvPr/>
        </p:nvCxnSpPr>
        <p:spPr bwMode="auto">
          <a:xfrm>
            <a:off x="2057400" y="4819650"/>
            <a:ext cx="2293938" cy="47625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405" name="AutoShape 106"/>
          <p:cNvCxnSpPr>
            <a:cxnSpLocks noChangeShapeType="1"/>
            <a:stCxn id="319" idx="2"/>
            <a:endCxn id="323" idx="3"/>
          </p:cNvCxnSpPr>
          <p:nvPr/>
        </p:nvCxnSpPr>
        <p:spPr bwMode="auto">
          <a:xfrm flipH="1" flipV="1">
            <a:off x="4876800" y="5295900"/>
            <a:ext cx="2201863" cy="2667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406" name="AutoShape 107"/>
          <p:cNvCxnSpPr>
            <a:cxnSpLocks noChangeShapeType="1"/>
            <a:stCxn id="222" idx="2"/>
            <a:endCxn id="323" idx="0"/>
          </p:cNvCxnSpPr>
          <p:nvPr/>
        </p:nvCxnSpPr>
        <p:spPr bwMode="auto">
          <a:xfrm flipH="1">
            <a:off x="4614863" y="3627438"/>
            <a:ext cx="71437" cy="1096962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" name="Text Box 108"/>
          <p:cNvSpPr txBox="1">
            <a:spLocks noChangeArrowheads="1"/>
          </p:cNvSpPr>
          <p:nvPr/>
        </p:nvSpPr>
        <p:spPr bwMode="auto">
          <a:xfrm>
            <a:off x="152400" y="5826125"/>
            <a:ext cx="2362200" cy="346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rgbClr val="20B43C"/>
                </a:solidFill>
                <a:latin typeface="Arial" charset="0"/>
              </a:rPr>
              <a:t>Ground  </a:t>
            </a:r>
            <a:r>
              <a:rPr lang="en-US" sz="1600" kern="0">
                <a:solidFill>
                  <a:srgbClr val="FF0000"/>
                </a:solidFill>
                <a:latin typeface="Arial" charset="0"/>
              </a:rPr>
              <a:t>Vertical  </a:t>
            </a:r>
            <a:r>
              <a:rPr lang="en-US" sz="1600" kern="0">
                <a:solidFill>
                  <a:srgbClr val="5D7CD5"/>
                </a:solidFill>
                <a:latin typeface="Arial" charset="0"/>
              </a:rPr>
              <a:t>Sky</a:t>
            </a:r>
          </a:p>
        </p:txBody>
      </p:sp>
      <p:pic>
        <p:nvPicPr>
          <p:cNvPr id="57408" name="Picture 1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71600"/>
            <a:ext cx="103028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9" name="Text Box 110"/>
          <p:cNvSpPr txBox="1">
            <a:spLocks noChangeArrowheads="1"/>
          </p:cNvSpPr>
          <p:nvPr/>
        </p:nvSpPr>
        <p:spPr bwMode="auto">
          <a:xfrm>
            <a:off x="7010400" y="6521450"/>
            <a:ext cx="2133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kern="0">
                <a:solidFill>
                  <a:sysClr val="windowText" lastClr="000000"/>
                </a:solidFill>
                <a:latin typeface="Arial" charset="0"/>
              </a:rPr>
              <a:t>[Collins et al. 2002]</a:t>
            </a:r>
          </a:p>
        </p:txBody>
      </p:sp>
      <p:sp>
        <p:nvSpPr>
          <p:cNvPr id="330" name="Text Box 111"/>
          <p:cNvSpPr txBox="1">
            <a:spLocks noChangeArrowheads="1"/>
          </p:cNvSpPr>
          <p:nvPr/>
        </p:nvSpPr>
        <p:spPr bwMode="auto">
          <a:xfrm>
            <a:off x="3124200" y="5715000"/>
            <a:ext cx="365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kern="0">
                <a:solidFill>
                  <a:sysClr val="windowText" lastClr="000000"/>
                </a:solidFill>
                <a:latin typeface="Arial" charset="0"/>
              </a:rPr>
              <a:t>P(</a:t>
            </a:r>
            <a:r>
              <a:rPr lang="en-US" i="1" kern="0">
                <a:solidFill>
                  <a:sysClr val="windowText" lastClr="000000"/>
                </a:solidFill>
                <a:latin typeface="Arial" charset="0"/>
              </a:rPr>
              <a:t>label </a:t>
            </a:r>
            <a:r>
              <a:rPr lang="en-US" kern="0">
                <a:solidFill>
                  <a:sysClr val="windowText" lastClr="000000"/>
                </a:solidFill>
                <a:latin typeface="Arial" charset="0"/>
              </a:rPr>
              <a:t>| </a:t>
            </a:r>
            <a:r>
              <a:rPr lang="en-US" i="1" kern="0">
                <a:solidFill>
                  <a:sysClr val="windowText" lastClr="000000"/>
                </a:solidFill>
                <a:latin typeface="Arial" charset="0"/>
              </a:rPr>
              <a:t>good segment</a:t>
            </a:r>
            <a:r>
              <a:rPr lang="en-US" kern="0">
                <a:solidFill>
                  <a:sysClr val="windowText" lastClr="000000"/>
                </a:solidFill>
                <a:latin typeface="Arial" charset="0"/>
              </a:rPr>
              <a:t>, </a:t>
            </a:r>
            <a:r>
              <a:rPr lang="en-US" i="1" kern="0">
                <a:solidFill>
                  <a:sysClr val="windowText" lastClr="000000"/>
                </a:solidFill>
                <a:latin typeface="Arial" charset="0"/>
              </a:rPr>
              <a:t>data</a:t>
            </a:r>
            <a:r>
              <a:rPr lang="en-US" kern="0">
                <a:solidFill>
                  <a:sysClr val="windowText" lastClr="000000"/>
                </a:solidFill>
                <a:latin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4045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Boosted Decision Trees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Flexible: can deal with both continuous and categorical variables</a:t>
            </a:r>
          </a:p>
          <a:p>
            <a:r>
              <a:rPr lang="en-US"/>
              <a:t>How to control bias/variance trade-off</a:t>
            </a:r>
          </a:p>
          <a:p>
            <a:pPr lvl="1"/>
            <a:r>
              <a:rPr lang="en-US"/>
              <a:t>Size of trees</a:t>
            </a:r>
          </a:p>
          <a:p>
            <a:pPr lvl="1"/>
            <a:r>
              <a:rPr lang="en-US"/>
              <a:t>Number of trees</a:t>
            </a:r>
          </a:p>
          <a:p>
            <a:r>
              <a:rPr lang="en-US"/>
              <a:t>Boosting trees often works best with a small number of well-designed features</a:t>
            </a:r>
          </a:p>
          <a:p>
            <a:r>
              <a:rPr lang="en-US"/>
              <a:t>Boosting “stubs” can give a fast classifier</a:t>
            </a:r>
          </a:p>
          <a:p>
            <a:pPr lvl="1">
              <a:buFont typeface="Arial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/>
              <a:t>Model the joint probability of the features and the labels</a:t>
            </a:r>
          </a:p>
          <a:p>
            <a:pPr lvl="1"/>
            <a:r>
              <a:rPr lang="en-US" dirty="0"/>
              <a:t>Allows direct control of independence assumptions</a:t>
            </a:r>
          </a:p>
          <a:p>
            <a:pPr lvl="1"/>
            <a:r>
              <a:rPr lang="en-US" dirty="0"/>
              <a:t>Can incorporate priors</a:t>
            </a:r>
          </a:p>
          <a:p>
            <a:pPr lvl="1"/>
            <a:r>
              <a:rPr lang="en-US" dirty="0"/>
              <a:t>Often simple to train (depending on the model)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Naïve Bayes</a:t>
            </a:r>
          </a:p>
          <a:p>
            <a:pPr lvl="1"/>
            <a:r>
              <a:rPr lang="en-US" dirty="0"/>
              <a:t>Mixture of Gaussians for each class</a:t>
            </a:r>
          </a:p>
        </p:txBody>
      </p:sp>
    </p:spTree>
    <p:extLst>
      <p:ext uri="{BB962C8B-B14F-4D97-AF65-F5344CB8AC3E}">
        <p14:creationId xmlns:p14="http://schemas.microsoft.com/office/powerpoint/2010/main" val="2714947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Naïve Bayes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Objective</a:t>
            </a:r>
          </a:p>
          <a:p>
            <a:r>
              <a:rPr lang="en-US" sz="2400"/>
              <a:t>Parameterization</a:t>
            </a:r>
          </a:p>
          <a:p>
            <a:r>
              <a:rPr lang="en-US" sz="2400"/>
              <a:t>Regularization</a:t>
            </a:r>
          </a:p>
          <a:p>
            <a:r>
              <a:rPr lang="en-US" sz="2400"/>
              <a:t>Training</a:t>
            </a:r>
          </a:p>
          <a:p>
            <a:r>
              <a:rPr lang="en-US" sz="2400"/>
              <a:t>Inference</a:t>
            </a:r>
          </a:p>
        </p:txBody>
      </p:sp>
      <p:sp>
        <p:nvSpPr>
          <p:cNvPr id="4" name="Oval 3"/>
          <p:cNvSpPr/>
          <p:nvPr/>
        </p:nvSpPr>
        <p:spPr>
          <a:xfrm>
            <a:off x="5105400" y="3581400"/>
            <a:ext cx="533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5943600" y="3581400"/>
            <a:ext cx="533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0" y="3581400"/>
            <a:ext cx="533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x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6019800" y="2209800"/>
            <a:ext cx="533400" cy="533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y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8" idx="4"/>
          </p:cNvCxnSpPr>
          <p:nvPr/>
        </p:nvCxnSpPr>
        <p:spPr>
          <a:xfrm rot="5400000">
            <a:off x="5467350" y="2762250"/>
            <a:ext cx="838200" cy="8001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8" idx="4"/>
          </p:cNvCxnSpPr>
          <p:nvPr/>
        </p:nvCxnSpPr>
        <p:spPr>
          <a:xfrm rot="5400000">
            <a:off x="5886450" y="3105150"/>
            <a:ext cx="762000" cy="381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4"/>
          </p:cNvCxnSpPr>
          <p:nvPr/>
        </p:nvCxnSpPr>
        <p:spPr>
          <a:xfrm rot="16200000" flipH="1">
            <a:off x="6305550" y="2724150"/>
            <a:ext cx="762000" cy="8001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136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Naïve Bayes 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Simple thing to try for categorical data</a:t>
            </a:r>
          </a:p>
          <a:p>
            <a:endParaRPr lang="en-US"/>
          </a:p>
          <a:p>
            <a:r>
              <a:rPr lang="en-US"/>
              <a:t>Very fast to train/test</a:t>
            </a:r>
          </a:p>
          <a:p>
            <a:endParaRPr lang="en-US"/>
          </a:p>
          <a:p>
            <a:pPr>
              <a:buFont typeface="Arial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37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(unsupervised)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5181600" y="1981200"/>
            <a:ext cx="3430588" cy="3417888"/>
            <a:chOff x="4723606" y="1981200"/>
            <a:chExt cx="3429794" cy="3417332"/>
          </a:xfrm>
        </p:grpSpPr>
        <p:sp>
          <p:nvSpPr>
            <p:cNvPr id="59415" name="TextBox 4"/>
            <p:cNvSpPr txBox="1">
              <a:spLocks noChangeArrowheads="1"/>
            </p:cNvSpPr>
            <p:nvPr/>
          </p:nvSpPr>
          <p:spPr bwMode="auto">
            <a:xfrm>
              <a:off x="6400800" y="28194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9416" name="TextBox 5"/>
            <p:cNvSpPr txBox="1">
              <a:spLocks noChangeArrowheads="1"/>
            </p:cNvSpPr>
            <p:nvPr/>
          </p:nvSpPr>
          <p:spPr bwMode="auto">
            <a:xfrm>
              <a:off x="6934200" y="28194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9417" name="TextBox 6"/>
            <p:cNvSpPr txBox="1">
              <a:spLocks noChangeArrowheads="1"/>
            </p:cNvSpPr>
            <p:nvPr/>
          </p:nvSpPr>
          <p:spPr bwMode="auto">
            <a:xfrm>
              <a:off x="6934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9418" name="TextBox 7"/>
            <p:cNvSpPr txBox="1">
              <a:spLocks noChangeArrowheads="1"/>
            </p:cNvSpPr>
            <p:nvPr/>
          </p:nvSpPr>
          <p:spPr bwMode="auto">
            <a:xfrm>
              <a:off x="7467600" y="33528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9419" name="TextBox 9"/>
            <p:cNvSpPr txBox="1">
              <a:spLocks noChangeArrowheads="1"/>
            </p:cNvSpPr>
            <p:nvPr/>
          </p:nvSpPr>
          <p:spPr bwMode="auto">
            <a:xfrm>
              <a:off x="5105400" y="2983468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</a:t>
              </a:r>
            </a:p>
          </p:txBody>
        </p:sp>
        <p:sp>
          <p:nvSpPr>
            <p:cNvPr id="59420" name="TextBox 10"/>
            <p:cNvSpPr txBox="1">
              <a:spLocks noChangeArrowheads="1"/>
            </p:cNvSpPr>
            <p:nvPr/>
          </p:nvSpPr>
          <p:spPr bwMode="auto">
            <a:xfrm>
              <a:off x="6096000" y="2362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9421" name="TextBox 12"/>
            <p:cNvSpPr txBox="1">
              <a:spLocks noChangeArrowheads="1"/>
            </p:cNvSpPr>
            <p:nvPr/>
          </p:nvSpPr>
          <p:spPr bwMode="auto">
            <a:xfrm>
              <a:off x="6019800" y="26670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59422" name="TextBox 14"/>
            <p:cNvSpPr txBox="1">
              <a:spLocks noChangeArrowheads="1"/>
            </p:cNvSpPr>
            <p:nvPr/>
          </p:nvSpPr>
          <p:spPr bwMode="auto">
            <a:xfrm>
              <a:off x="5029200" y="3962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9423" name="TextBox 15"/>
            <p:cNvSpPr txBox="1">
              <a:spLocks noChangeArrowheads="1"/>
            </p:cNvSpPr>
            <p:nvPr/>
          </p:nvSpPr>
          <p:spPr bwMode="auto">
            <a:xfrm>
              <a:off x="5181600" y="34290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9424" name="TextBox 16"/>
            <p:cNvSpPr txBox="1">
              <a:spLocks noChangeArrowheads="1"/>
            </p:cNvSpPr>
            <p:nvPr/>
          </p:nvSpPr>
          <p:spPr bwMode="auto">
            <a:xfrm>
              <a:off x="57912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59425" name="TextBox 17"/>
            <p:cNvSpPr txBox="1">
              <a:spLocks noChangeArrowheads="1"/>
            </p:cNvSpPr>
            <p:nvPr/>
          </p:nvSpPr>
          <p:spPr bwMode="auto">
            <a:xfrm>
              <a:off x="5867400" y="3657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4725194" y="4952517"/>
              <a:ext cx="3428206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427" name="TextBox 22"/>
            <p:cNvSpPr txBox="1">
              <a:spLocks noChangeArrowheads="1"/>
            </p:cNvSpPr>
            <p:nvPr/>
          </p:nvSpPr>
          <p:spPr bwMode="auto">
            <a:xfrm>
              <a:off x="4953000" y="50292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  <p:sp>
          <p:nvSpPr>
            <p:cNvPr id="59428" name="TextBox 43"/>
            <p:cNvSpPr txBox="1">
              <a:spLocks noChangeArrowheads="1"/>
            </p:cNvSpPr>
            <p:nvPr/>
          </p:nvSpPr>
          <p:spPr bwMode="auto">
            <a:xfrm>
              <a:off x="6087894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 flipH="1" flipV="1">
              <a:off x="3237948" y="3466858"/>
              <a:ext cx="297290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396" name="Group 46"/>
          <p:cNvGrpSpPr>
            <a:grpSpLocks/>
          </p:cNvGrpSpPr>
          <p:nvPr/>
        </p:nvGrpSpPr>
        <p:grpSpPr bwMode="auto">
          <a:xfrm>
            <a:off x="228600" y="1905000"/>
            <a:ext cx="4038600" cy="3417888"/>
            <a:chOff x="609600" y="1905000"/>
            <a:chExt cx="4038600" cy="3417332"/>
          </a:xfrm>
        </p:grpSpPr>
        <p:sp>
          <p:nvSpPr>
            <p:cNvPr id="59398" name="TextBox 21"/>
            <p:cNvSpPr txBox="1">
              <a:spLocks noChangeArrowheads="1"/>
            </p:cNvSpPr>
            <p:nvPr/>
          </p:nvSpPr>
          <p:spPr bwMode="auto">
            <a:xfrm>
              <a:off x="4114800" y="44958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59399" name="TextBox 24"/>
            <p:cNvSpPr txBox="1">
              <a:spLocks noChangeArrowheads="1"/>
            </p:cNvSpPr>
            <p:nvPr/>
          </p:nvSpPr>
          <p:spPr bwMode="auto">
            <a:xfrm>
              <a:off x="2895600" y="2743200"/>
              <a:ext cx="319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0" name="TextBox 25"/>
            <p:cNvSpPr txBox="1">
              <a:spLocks noChangeArrowheads="1"/>
            </p:cNvSpPr>
            <p:nvPr/>
          </p:nvSpPr>
          <p:spPr bwMode="auto">
            <a:xfrm>
              <a:off x="3429000" y="2743200"/>
              <a:ext cx="319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1" name="TextBox 26"/>
            <p:cNvSpPr txBox="1">
              <a:spLocks noChangeArrowheads="1"/>
            </p:cNvSpPr>
            <p:nvPr/>
          </p:nvSpPr>
          <p:spPr bwMode="auto">
            <a:xfrm>
              <a:off x="3429000" y="3429000"/>
              <a:ext cx="319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2" name="TextBox 27"/>
            <p:cNvSpPr txBox="1">
              <a:spLocks noChangeArrowheads="1"/>
            </p:cNvSpPr>
            <p:nvPr/>
          </p:nvSpPr>
          <p:spPr bwMode="auto">
            <a:xfrm>
              <a:off x="3962400" y="3276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3" name="TextBox 29"/>
            <p:cNvSpPr txBox="1">
              <a:spLocks noChangeArrowheads="1"/>
            </p:cNvSpPr>
            <p:nvPr/>
          </p:nvSpPr>
          <p:spPr bwMode="auto">
            <a:xfrm>
              <a:off x="1600200" y="2831068"/>
              <a:ext cx="319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4" name="TextBox 30"/>
            <p:cNvSpPr txBox="1">
              <a:spLocks noChangeArrowheads="1"/>
            </p:cNvSpPr>
            <p:nvPr/>
          </p:nvSpPr>
          <p:spPr bwMode="auto">
            <a:xfrm>
              <a:off x="2590800" y="2286000"/>
              <a:ext cx="319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5" name="TextBox 32"/>
            <p:cNvSpPr txBox="1">
              <a:spLocks noChangeArrowheads="1"/>
            </p:cNvSpPr>
            <p:nvPr/>
          </p:nvSpPr>
          <p:spPr bwMode="auto">
            <a:xfrm>
              <a:off x="2514600" y="2590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6" name="TextBox 34"/>
            <p:cNvSpPr txBox="1">
              <a:spLocks noChangeArrowheads="1"/>
            </p:cNvSpPr>
            <p:nvPr/>
          </p:nvSpPr>
          <p:spPr bwMode="auto">
            <a:xfrm>
              <a:off x="1524000" y="3886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7" name="TextBox 35"/>
            <p:cNvSpPr txBox="1">
              <a:spLocks noChangeArrowheads="1"/>
            </p:cNvSpPr>
            <p:nvPr/>
          </p:nvSpPr>
          <p:spPr bwMode="auto">
            <a:xfrm>
              <a:off x="1676400" y="3352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8" name="TextBox 36"/>
            <p:cNvSpPr txBox="1">
              <a:spLocks noChangeArrowheads="1"/>
            </p:cNvSpPr>
            <p:nvPr/>
          </p:nvSpPr>
          <p:spPr bwMode="auto">
            <a:xfrm>
              <a:off x="2286000" y="4267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sp>
          <p:nvSpPr>
            <p:cNvPr id="59409" name="TextBox 37"/>
            <p:cNvSpPr txBox="1">
              <a:spLocks noChangeArrowheads="1"/>
            </p:cNvSpPr>
            <p:nvPr/>
          </p:nvSpPr>
          <p:spPr bwMode="auto">
            <a:xfrm>
              <a:off x="2362200" y="3581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rot="5400000" flipH="1" flipV="1">
              <a:off x="-268045" y="3390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1219200" y="4876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412" name="TextBox 41"/>
            <p:cNvSpPr txBox="1">
              <a:spLocks noChangeArrowheads="1"/>
            </p:cNvSpPr>
            <p:nvPr/>
          </p:nvSpPr>
          <p:spPr bwMode="auto">
            <a:xfrm>
              <a:off x="609600" y="4419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59413" name="TextBox 42"/>
            <p:cNvSpPr txBox="1">
              <a:spLocks noChangeArrowheads="1"/>
            </p:cNvSpPr>
            <p:nvPr/>
          </p:nvSpPr>
          <p:spPr bwMode="auto">
            <a:xfrm>
              <a:off x="1447800" y="4953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  <p:sp>
          <p:nvSpPr>
            <p:cNvPr id="59414" name="TextBox 44"/>
            <p:cNvSpPr txBox="1">
              <a:spLocks noChangeArrowheads="1"/>
            </p:cNvSpPr>
            <p:nvPr/>
          </p:nvSpPr>
          <p:spPr bwMode="auto">
            <a:xfrm>
              <a:off x="2576282" y="3429000"/>
              <a:ext cx="319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/>
                <a:t>+</a:t>
              </a:r>
            </a:p>
          </p:txBody>
        </p:sp>
      </p:grpSp>
      <p:sp>
        <p:nvSpPr>
          <p:cNvPr id="49" name="Right Arrow 48"/>
          <p:cNvSpPr/>
          <p:nvPr/>
        </p:nvSpPr>
        <p:spPr>
          <a:xfrm>
            <a:off x="4495800" y="32766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7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 classifiers to choose from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SVM</a:t>
            </a:r>
          </a:p>
          <a:p>
            <a:r>
              <a:rPr lang="en-US" sz="2800"/>
              <a:t>Neural networks</a:t>
            </a:r>
          </a:p>
          <a:p>
            <a:r>
              <a:rPr lang="en-US" sz="2800"/>
              <a:t>Naïve Bayes</a:t>
            </a:r>
          </a:p>
          <a:p>
            <a:r>
              <a:rPr lang="en-US" sz="2800"/>
              <a:t>Bayesian network</a:t>
            </a:r>
          </a:p>
          <a:p>
            <a:r>
              <a:rPr lang="en-US" sz="2800"/>
              <a:t>Logistic regression</a:t>
            </a:r>
          </a:p>
          <a:p>
            <a:r>
              <a:rPr lang="en-US" sz="2800"/>
              <a:t>Randomized Forests</a:t>
            </a:r>
          </a:p>
          <a:p>
            <a:r>
              <a:rPr lang="en-US" sz="2800"/>
              <a:t>Boosted Decision Trees</a:t>
            </a:r>
          </a:p>
          <a:p>
            <a:r>
              <a:rPr lang="en-US" sz="2800"/>
              <a:t>K-nearest neighbor</a:t>
            </a:r>
          </a:p>
          <a:p>
            <a:r>
              <a:rPr lang="en-US" sz="2800"/>
              <a:t>RBMs</a:t>
            </a:r>
          </a:p>
          <a:p>
            <a:r>
              <a:rPr lang="en-US" sz="2800"/>
              <a:t>Etc.</a:t>
            </a:r>
          </a:p>
          <a:p>
            <a:pPr>
              <a:buFont typeface="Arial" pitchFamily="34" charset="0"/>
              <a:buNone/>
            </a:pPr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24400" y="1676400"/>
            <a:ext cx="38211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800"/>
              <a:t>Which is the best one?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 of Training Size</a:t>
            </a:r>
          </a:p>
        </p:txBody>
      </p:sp>
      <p:sp>
        <p:nvSpPr>
          <p:cNvPr id="10" name="Freeform 9"/>
          <p:cNvSpPr/>
          <p:nvPr/>
        </p:nvSpPr>
        <p:spPr>
          <a:xfrm>
            <a:off x="1928813" y="3644900"/>
            <a:ext cx="4384675" cy="1349375"/>
          </a:xfrm>
          <a:custGeom>
            <a:avLst/>
            <a:gdLst>
              <a:gd name="connsiteX0" fmla="*/ 0 w 4384110"/>
              <a:gd name="connsiteY0" fmla="*/ 0 h 1349049"/>
              <a:gd name="connsiteX1" fmla="*/ 25052 w 4384110"/>
              <a:gd name="connsiteY1" fmla="*/ 112734 h 1349049"/>
              <a:gd name="connsiteX2" fmla="*/ 75156 w 4384110"/>
              <a:gd name="connsiteY2" fmla="*/ 187890 h 1349049"/>
              <a:gd name="connsiteX3" fmla="*/ 112734 w 4384110"/>
              <a:gd name="connsiteY3" fmla="*/ 212942 h 1349049"/>
              <a:gd name="connsiteX4" fmla="*/ 137787 w 4384110"/>
              <a:gd name="connsiteY4" fmla="*/ 237994 h 1349049"/>
              <a:gd name="connsiteX5" fmla="*/ 212943 w 4384110"/>
              <a:gd name="connsiteY5" fmla="*/ 263047 h 1349049"/>
              <a:gd name="connsiteX6" fmla="*/ 250521 w 4384110"/>
              <a:gd name="connsiteY6" fmla="*/ 275573 h 1349049"/>
              <a:gd name="connsiteX7" fmla="*/ 275573 w 4384110"/>
              <a:gd name="connsiteY7" fmla="*/ 313151 h 1349049"/>
              <a:gd name="connsiteX8" fmla="*/ 313151 w 4384110"/>
              <a:gd name="connsiteY8" fmla="*/ 325677 h 1349049"/>
              <a:gd name="connsiteX9" fmla="*/ 350729 w 4384110"/>
              <a:gd name="connsiteY9" fmla="*/ 350729 h 1349049"/>
              <a:gd name="connsiteX10" fmla="*/ 425885 w 4384110"/>
              <a:gd name="connsiteY10" fmla="*/ 375781 h 1349049"/>
              <a:gd name="connsiteX11" fmla="*/ 463463 w 4384110"/>
              <a:gd name="connsiteY11" fmla="*/ 388307 h 1349049"/>
              <a:gd name="connsiteX12" fmla="*/ 513567 w 4384110"/>
              <a:gd name="connsiteY12" fmla="*/ 400833 h 1349049"/>
              <a:gd name="connsiteX13" fmla="*/ 563671 w 4384110"/>
              <a:gd name="connsiteY13" fmla="*/ 425885 h 1349049"/>
              <a:gd name="connsiteX14" fmla="*/ 651354 w 4384110"/>
              <a:gd name="connsiteY14" fmla="*/ 450937 h 1349049"/>
              <a:gd name="connsiteX15" fmla="*/ 688932 w 4384110"/>
              <a:gd name="connsiteY15" fmla="*/ 475989 h 1349049"/>
              <a:gd name="connsiteX16" fmla="*/ 776614 w 4384110"/>
              <a:gd name="connsiteY16" fmla="*/ 501041 h 1349049"/>
              <a:gd name="connsiteX17" fmla="*/ 814192 w 4384110"/>
              <a:gd name="connsiteY17" fmla="*/ 526093 h 1349049"/>
              <a:gd name="connsiteX18" fmla="*/ 939452 w 4384110"/>
              <a:gd name="connsiteY18" fmla="*/ 563671 h 1349049"/>
              <a:gd name="connsiteX19" fmla="*/ 977030 w 4384110"/>
              <a:gd name="connsiteY19" fmla="*/ 588723 h 1349049"/>
              <a:gd name="connsiteX20" fmla="*/ 1064713 w 4384110"/>
              <a:gd name="connsiteY20" fmla="*/ 613775 h 1349049"/>
              <a:gd name="connsiteX21" fmla="*/ 1139869 w 4384110"/>
              <a:gd name="connsiteY21" fmla="*/ 638827 h 1349049"/>
              <a:gd name="connsiteX22" fmla="*/ 1177447 w 4384110"/>
              <a:gd name="connsiteY22" fmla="*/ 651353 h 1349049"/>
              <a:gd name="connsiteX23" fmla="*/ 1215025 w 4384110"/>
              <a:gd name="connsiteY23" fmla="*/ 676405 h 1349049"/>
              <a:gd name="connsiteX24" fmla="*/ 1277655 w 4384110"/>
              <a:gd name="connsiteY24" fmla="*/ 688931 h 1349049"/>
              <a:gd name="connsiteX25" fmla="*/ 1315233 w 4384110"/>
              <a:gd name="connsiteY25" fmla="*/ 713984 h 1349049"/>
              <a:gd name="connsiteX26" fmla="*/ 1402915 w 4384110"/>
              <a:gd name="connsiteY26" fmla="*/ 739036 h 1349049"/>
              <a:gd name="connsiteX27" fmla="*/ 1478071 w 4384110"/>
              <a:gd name="connsiteY27" fmla="*/ 789140 h 1349049"/>
              <a:gd name="connsiteX28" fmla="*/ 1515650 w 4384110"/>
              <a:gd name="connsiteY28" fmla="*/ 814192 h 1349049"/>
              <a:gd name="connsiteX29" fmla="*/ 1665962 w 4384110"/>
              <a:gd name="connsiteY29" fmla="*/ 864296 h 1349049"/>
              <a:gd name="connsiteX30" fmla="*/ 1703540 w 4384110"/>
              <a:gd name="connsiteY30" fmla="*/ 876822 h 1349049"/>
              <a:gd name="connsiteX31" fmla="*/ 1741118 w 4384110"/>
              <a:gd name="connsiteY31" fmla="*/ 889348 h 1349049"/>
              <a:gd name="connsiteX32" fmla="*/ 1853852 w 4384110"/>
              <a:gd name="connsiteY32" fmla="*/ 951978 h 1349049"/>
              <a:gd name="connsiteX33" fmla="*/ 1891430 w 4384110"/>
              <a:gd name="connsiteY33" fmla="*/ 977030 h 1349049"/>
              <a:gd name="connsiteX34" fmla="*/ 1929008 w 4384110"/>
              <a:gd name="connsiteY34" fmla="*/ 1014608 h 1349049"/>
              <a:gd name="connsiteX35" fmla="*/ 2004165 w 4384110"/>
              <a:gd name="connsiteY35" fmla="*/ 1039660 h 1349049"/>
              <a:gd name="connsiteX36" fmla="*/ 2041743 w 4384110"/>
              <a:gd name="connsiteY36" fmla="*/ 1052186 h 1349049"/>
              <a:gd name="connsiteX37" fmla="*/ 2718148 w 4384110"/>
              <a:gd name="connsiteY37" fmla="*/ 1077238 h 1349049"/>
              <a:gd name="connsiteX38" fmla="*/ 2956143 w 4384110"/>
              <a:gd name="connsiteY38" fmla="*/ 1102290 h 1349049"/>
              <a:gd name="connsiteX39" fmla="*/ 3018773 w 4384110"/>
              <a:gd name="connsiteY39" fmla="*/ 1114816 h 1349049"/>
              <a:gd name="connsiteX40" fmla="*/ 3081403 w 4384110"/>
              <a:gd name="connsiteY40" fmla="*/ 1152394 h 1349049"/>
              <a:gd name="connsiteX41" fmla="*/ 3331924 w 4384110"/>
              <a:gd name="connsiteY41" fmla="*/ 1189973 h 1349049"/>
              <a:gd name="connsiteX42" fmla="*/ 3457184 w 4384110"/>
              <a:gd name="connsiteY42" fmla="*/ 1215025 h 1349049"/>
              <a:gd name="connsiteX43" fmla="*/ 3507288 w 4384110"/>
              <a:gd name="connsiteY43" fmla="*/ 1227551 h 1349049"/>
              <a:gd name="connsiteX44" fmla="*/ 3620022 w 4384110"/>
              <a:gd name="connsiteY44" fmla="*/ 1240077 h 1349049"/>
              <a:gd name="connsiteX45" fmla="*/ 3657600 w 4384110"/>
              <a:gd name="connsiteY45" fmla="*/ 1252603 h 1349049"/>
              <a:gd name="connsiteX46" fmla="*/ 4296428 w 4384110"/>
              <a:gd name="connsiteY46" fmla="*/ 1277655 h 1349049"/>
              <a:gd name="connsiteX47" fmla="*/ 4384110 w 4384110"/>
              <a:gd name="connsiteY47" fmla="*/ 1315233 h 134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384110" h="1349049">
                <a:moveTo>
                  <a:pt x="0" y="0"/>
                </a:moveTo>
                <a:cubicBezTo>
                  <a:pt x="3399" y="20392"/>
                  <a:pt x="10368" y="86303"/>
                  <a:pt x="25052" y="112734"/>
                </a:cubicBezTo>
                <a:cubicBezTo>
                  <a:pt x="39674" y="139054"/>
                  <a:pt x="50104" y="171189"/>
                  <a:pt x="75156" y="187890"/>
                </a:cubicBezTo>
                <a:cubicBezTo>
                  <a:pt x="87682" y="196241"/>
                  <a:pt x="100978" y="203538"/>
                  <a:pt x="112734" y="212942"/>
                </a:cubicBezTo>
                <a:cubicBezTo>
                  <a:pt x="121956" y="220319"/>
                  <a:pt x="127224" y="232712"/>
                  <a:pt x="137787" y="237994"/>
                </a:cubicBezTo>
                <a:cubicBezTo>
                  <a:pt x="161406" y="249804"/>
                  <a:pt x="187891" y="254696"/>
                  <a:pt x="212943" y="263047"/>
                </a:cubicBezTo>
                <a:lnTo>
                  <a:pt x="250521" y="275573"/>
                </a:lnTo>
                <a:cubicBezTo>
                  <a:pt x="258872" y="288099"/>
                  <a:pt x="263818" y="303747"/>
                  <a:pt x="275573" y="313151"/>
                </a:cubicBezTo>
                <a:cubicBezTo>
                  <a:pt x="285883" y="321399"/>
                  <a:pt x="301341" y="319772"/>
                  <a:pt x="313151" y="325677"/>
                </a:cubicBezTo>
                <a:cubicBezTo>
                  <a:pt x="326616" y="332410"/>
                  <a:pt x="336972" y="344615"/>
                  <a:pt x="350729" y="350729"/>
                </a:cubicBezTo>
                <a:cubicBezTo>
                  <a:pt x="374860" y="361454"/>
                  <a:pt x="400833" y="367430"/>
                  <a:pt x="425885" y="375781"/>
                </a:cubicBezTo>
                <a:cubicBezTo>
                  <a:pt x="438411" y="379956"/>
                  <a:pt x="450654" y="385105"/>
                  <a:pt x="463463" y="388307"/>
                </a:cubicBezTo>
                <a:cubicBezTo>
                  <a:pt x="480164" y="392482"/>
                  <a:pt x="497448" y="394788"/>
                  <a:pt x="513567" y="400833"/>
                </a:cubicBezTo>
                <a:cubicBezTo>
                  <a:pt x="531051" y="407389"/>
                  <a:pt x="546508" y="418530"/>
                  <a:pt x="563671" y="425885"/>
                </a:cubicBezTo>
                <a:cubicBezTo>
                  <a:pt x="588827" y="436666"/>
                  <a:pt x="625931" y="444581"/>
                  <a:pt x="651354" y="450937"/>
                </a:cubicBezTo>
                <a:cubicBezTo>
                  <a:pt x="663880" y="459288"/>
                  <a:pt x="675467" y="469256"/>
                  <a:pt x="688932" y="475989"/>
                </a:cubicBezTo>
                <a:cubicBezTo>
                  <a:pt x="706902" y="484974"/>
                  <a:pt x="760561" y="497028"/>
                  <a:pt x="776614" y="501041"/>
                </a:cubicBezTo>
                <a:cubicBezTo>
                  <a:pt x="789140" y="509392"/>
                  <a:pt x="800355" y="520163"/>
                  <a:pt x="814192" y="526093"/>
                </a:cubicBezTo>
                <a:cubicBezTo>
                  <a:pt x="863207" y="547099"/>
                  <a:pt x="888932" y="529991"/>
                  <a:pt x="939452" y="563671"/>
                </a:cubicBezTo>
                <a:cubicBezTo>
                  <a:pt x="951978" y="572022"/>
                  <a:pt x="963565" y="581990"/>
                  <a:pt x="977030" y="588723"/>
                </a:cubicBezTo>
                <a:cubicBezTo>
                  <a:pt x="998079" y="599248"/>
                  <a:pt x="1044645" y="607755"/>
                  <a:pt x="1064713" y="613775"/>
                </a:cubicBezTo>
                <a:cubicBezTo>
                  <a:pt x="1090006" y="621363"/>
                  <a:pt x="1114817" y="630476"/>
                  <a:pt x="1139869" y="638827"/>
                </a:cubicBezTo>
                <a:cubicBezTo>
                  <a:pt x="1152395" y="643002"/>
                  <a:pt x="1166461" y="644029"/>
                  <a:pt x="1177447" y="651353"/>
                </a:cubicBezTo>
                <a:cubicBezTo>
                  <a:pt x="1189973" y="659704"/>
                  <a:pt x="1200929" y="671119"/>
                  <a:pt x="1215025" y="676405"/>
                </a:cubicBezTo>
                <a:cubicBezTo>
                  <a:pt x="1234960" y="683880"/>
                  <a:pt x="1256778" y="684756"/>
                  <a:pt x="1277655" y="688931"/>
                </a:cubicBezTo>
                <a:cubicBezTo>
                  <a:pt x="1290181" y="697282"/>
                  <a:pt x="1301396" y="708054"/>
                  <a:pt x="1315233" y="713984"/>
                </a:cubicBezTo>
                <a:cubicBezTo>
                  <a:pt x="1343613" y="726147"/>
                  <a:pt x="1375491" y="723800"/>
                  <a:pt x="1402915" y="739036"/>
                </a:cubicBezTo>
                <a:cubicBezTo>
                  <a:pt x="1429235" y="753658"/>
                  <a:pt x="1453019" y="772439"/>
                  <a:pt x="1478071" y="789140"/>
                </a:cubicBezTo>
                <a:cubicBezTo>
                  <a:pt x="1490597" y="797491"/>
                  <a:pt x="1501368" y="809431"/>
                  <a:pt x="1515650" y="814192"/>
                </a:cubicBezTo>
                <a:lnTo>
                  <a:pt x="1665962" y="864296"/>
                </a:lnTo>
                <a:lnTo>
                  <a:pt x="1703540" y="876822"/>
                </a:lnTo>
                <a:cubicBezTo>
                  <a:pt x="1716066" y="880997"/>
                  <a:pt x="1730132" y="882024"/>
                  <a:pt x="1741118" y="889348"/>
                </a:cubicBezTo>
                <a:cubicBezTo>
                  <a:pt x="1825817" y="945814"/>
                  <a:pt x="1720920" y="878127"/>
                  <a:pt x="1853852" y="951978"/>
                </a:cubicBezTo>
                <a:cubicBezTo>
                  <a:pt x="1867012" y="959289"/>
                  <a:pt x="1879865" y="967392"/>
                  <a:pt x="1891430" y="977030"/>
                </a:cubicBezTo>
                <a:cubicBezTo>
                  <a:pt x="1905039" y="988371"/>
                  <a:pt x="1913523" y="1006005"/>
                  <a:pt x="1929008" y="1014608"/>
                </a:cubicBezTo>
                <a:cubicBezTo>
                  <a:pt x="1952092" y="1027433"/>
                  <a:pt x="1979113" y="1031309"/>
                  <a:pt x="2004165" y="1039660"/>
                </a:cubicBezTo>
                <a:cubicBezTo>
                  <a:pt x="2016691" y="1043835"/>
                  <a:pt x="2028545" y="1051809"/>
                  <a:pt x="2041743" y="1052186"/>
                </a:cubicBezTo>
                <a:cubicBezTo>
                  <a:pt x="2559563" y="1066981"/>
                  <a:pt x="2334159" y="1057028"/>
                  <a:pt x="2718148" y="1077238"/>
                </a:cubicBezTo>
                <a:cubicBezTo>
                  <a:pt x="2825020" y="1112862"/>
                  <a:pt x="2713179" y="1079151"/>
                  <a:pt x="2956143" y="1102290"/>
                </a:cubicBezTo>
                <a:cubicBezTo>
                  <a:pt x="2977337" y="1104308"/>
                  <a:pt x="2997896" y="1110641"/>
                  <a:pt x="3018773" y="1114816"/>
                </a:cubicBezTo>
                <a:cubicBezTo>
                  <a:pt x="3039650" y="1127342"/>
                  <a:pt x="3059239" y="1142319"/>
                  <a:pt x="3081403" y="1152394"/>
                </a:cubicBezTo>
                <a:cubicBezTo>
                  <a:pt x="3170790" y="1193025"/>
                  <a:pt x="3222018" y="1182123"/>
                  <a:pt x="3331924" y="1189973"/>
                </a:cubicBezTo>
                <a:cubicBezTo>
                  <a:pt x="3373677" y="1198324"/>
                  <a:pt x="3415875" y="1204698"/>
                  <a:pt x="3457184" y="1215025"/>
                </a:cubicBezTo>
                <a:cubicBezTo>
                  <a:pt x="3473885" y="1219200"/>
                  <a:pt x="3490273" y="1224933"/>
                  <a:pt x="3507288" y="1227551"/>
                </a:cubicBezTo>
                <a:cubicBezTo>
                  <a:pt x="3544658" y="1233300"/>
                  <a:pt x="3582444" y="1235902"/>
                  <a:pt x="3620022" y="1240077"/>
                </a:cubicBezTo>
                <a:cubicBezTo>
                  <a:pt x="3632548" y="1244252"/>
                  <a:pt x="3644417" y="1251871"/>
                  <a:pt x="3657600" y="1252603"/>
                </a:cubicBezTo>
                <a:cubicBezTo>
                  <a:pt x="3870378" y="1264424"/>
                  <a:pt x="4296428" y="1277655"/>
                  <a:pt x="4296428" y="1277655"/>
                </a:cubicBezTo>
                <a:cubicBezTo>
                  <a:pt x="4376497" y="1331034"/>
                  <a:pt x="4350294" y="1349049"/>
                  <a:pt x="4384110" y="1315233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916113" y="5308600"/>
            <a:ext cx="4371975" cy="541338"/>
          </a:xfrm>
          <a:custGeom>
            <a:avLst/>
            <a:gdLst>
              <a:gd name="connsiteX0" fmla="*/ 0 w 4371584"/>
              <a:gd name="connsiteY0" fmla="*/ 541208 h 541208"/>
              <a:gd name="connsiteX1" fmla="*/ 450937 w 4371584"/>
              <a:gd name="connsiteY1" fmla="*/ 528682 h 541208"/>
              <a:gd name="connsiteX2" fmla="*/ 563671 w 4371584"/>
              <a:gd name="connsiteY2" fmla="*/ 491104 h 541208"/>
              <a:gd name="connsiteX3" fmla="*/ 626302 w 4371584"/>
              <a:gd name="connsiteY3" fmla="*/ 478578 h 541208"/>
              <a:gd name="connsiteX4" fmla="*/ 776614 w 4371584"/>
              <a:gd name="connsiteY4" fmla="*/ 453526 h 541208"/>
              <a:gd name="connsiteX5" fmla="*/ 851770 w 4371584"/>
              <a:gd name="connsiteY5" fmla="*/ 415948 h 541208"/>
              <a:gd name="connsiteX6" fmla="*/ 889348 w 4371584"/>
              <a:gd name="connsiteY6" fmla="*/ 403421 h 541208"/>
              <a:gd name="connsiteX7" fmla="*/ 914400 w 4371584"/>
              <a:gd name="connsiteY7" fmla="*/ 365843 h 541208"/>
              <a:gd name="connsiteX8" fmla="*/ 951978 w 4371584"/>
              <a:gd name="connsiteY8" fmla="*/ 353317 h 541208"/>
              <a:gd name="connsiteX9" fmla="*/ 1052186 w 4371584"/>
              <a:gd name="connsiteY9" fmla="*/ 328265 h 541208"/>
              <a:gd name="connsiteX10" fmla="*/ 1177447 w 4371584"/>
              <a:gd name="connsiteY10" fmla="*/ 303213 h 541208"/>
              <a:gd name="connsiteX11" fmla="*/ 1778696 w 4371584"/>
              <a:gd name="connsiteY11" fmla="*/ 278161 h 541208"/>
              <a:gd name="connsiteX12" fmla="*/ 2167003 w 4371584"/>
              <a:gd name="connsiteY12" fmla="*/ 253109 h 541208"/>
              <a:gd name="connsiteX13" fmla="*/ 2217107 w 4371584"/>
              <a:gd name="connsiteY13" fmla="*/ 240583 h 541208"/>
              <a:gd name="connsiteX14" fmla="*/ 2342367 w 4371584"/>
              <a:gd name="connsiteY14" fmla="*/ 215531 h 541208"/>
              <a:gd name="connsiteX15" fmla="*/ 2392471 w 4371584"/>
              <a:gd name="connsiteY15" fmla="*/ 203005 h 541208"/>
              <a:gd name="connsiteX16" fmla="*/ 2592888 w 4371584"/>
              <a:gd name="connsiteY16" fmla="*/ 190479 h 541208"/>
              <a:gd name="connsiteX17" fmla="*/ 2680570 w 4371584"/>
              <a:gd name="connsiteY17" fmla="*/ 165427 h 541208"/>
              <a:gd name="connsiteX18" fmla="*/ 2743200 w 4371584"/>
              <a:gd name="connsiteY18" fmla="*/ 152901 h 541208"/>
              <a:gd name="connsiteX19" fmla="*/ 2793304 w 4371584"/>
              <a:gd name="connsiteY19" fmla="*/ 140375 h 541208"/>
              <a:gd name="connsiteX20" fmla="*/ 3068877 w 4371584"/>
              <a:gd name="connsiteY20" fmla="*/ 127849 h 541208"/>
              <a:gd name="connsiteX21" fmla="*/ 3519814 w 4371584"/>
              <a:gd name="connsiteY21" fmla="*/ 102797 h 541208"/>
              <a:gd name="connsiteX22" fmla="*/ 3807913 w 4371584"/>
              <a:gd name="connsiteY22" fmla="*/ 90271 h 541208"/>
              <a:gd name="connsiteX23" fmla="*/ 3945699 w 4371584"/>
              <a:gd name="connsiteY23" fmla="*/ 52693 h 541208"/>
              <a:gd name="connsiteX24" fmla="*/ 3983277 w 4371584"/>
              <a:gd name="connsiteY24" fmla="*/ 40167 h 541208"/>
              <a:gd name="connsiteX25" fmla="*/ 4221271 w 4371584"/>
              <a:gd name="connsiteY25" fmla="*/ 27641 h 541208"/>
              <a:gd name="connsiteX26" fmla="*/ 4271376 w 4371584"/>
              <a:gd name="connsiteY26" fmla="*/ 15115 h 541208"/>
              <a:gd name="connsiteX27" fmla="*/ 4308954 w 4371584"/>
              <a:gd name="connsiteY27" fmla="*/ 2589 h 541208"/>
              <a:gd name="connsiteX28" fmla="*/ 4371584 w 4371584"/>
              <a:gd name="connsiteY28" fmla="*/ 2589 h 54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371584" h="541208">
                <a:moveTo>
                  <a:pt x="0" y="541208"/>
                </a:moveTo>
                <a:cubicBezTo>
                  <a:pt x="150312" y="537033"/>
                  <a:pt x="300949" y="539395"/>
                  <a:pt x="450937" y="528682"/>
                </a:cubicBezTo>
                <a:cubicBezTo>
                  <a:pt x="489909" y="525898"/>
                  <a:pt x="525396" y="498759"/>
                  <a:pt x="563671" y="491104"/>
                </a:cubicBezTo>
                <a:cubicBezTo>
                  <a:pt x="584548" y="486929"/>
                  <a:pt x="605301" y="482078"/>
                  <a:pt x="626302" y="478578"/>
                </a:cubicBezTo>
                <a:cubicBezTo>
                  <a:pt x="689933" y="467973"/>
                  <a:pt x="717575" y="468286"/>
                  <a:pt x="776614" y="453526"/>
                </a:cubicBezTo>
                <a:cubicBezTo>
                  <a:pt x="839580" y="437784"/>
                  <a:pt x="790543" y="446562"/>
                  <a:pt x="851770" y="415948"/>
                </a:cubicBezTo>
                <a:cubicBezTo>
                  <a:pt x="863580" y="410043"/>
                  <a:pt x="876822" y="407597"/>
                  <a:pt x="889348" y="403421"/>
                </a:cubicBezTo>
                <a:cubicBezTo>
                  <a:pt x="897699" y="390895"/>
                  <a:pt x="902645" y="375247"/>
                  <a:pt x="914400" y="365843"/>
                </a:cubicBezTo>
                <a:cubicBezTo>
                  <a:pt x="924710" y="357595"/>
                  <a:pt x="939240" y="356791"/>
                  <a:pt x="951978" y="353317"/>
                </a:cubicBezTo>
                <a:cubicBezTo>
                  <a:pt x="985195" y="344258"/>
                  <a:pt x="1018424" y="335017"/>
                  <a:pt x="1052186" y="328265"/>
                </a:cubicBezTo>
                <a:lnTo>
                  <a:pt x="1177447" y="303213"/>
                </a:lnTo>
                <a:cubicBezTo>
                  <a:pt x="1416179" y="255467"/>
                  <a:pt x="1218781" y="291182"/>
                  <a:pt x="1778696" y="278161"/>
                </a:cubicBezTo>
                <a:cubicBezTo>
                  <a:pt x="1931317" y="227287"/>
                  <a:pt x="1767086" y="278104"/>
                  <a:pt x="2167003" y="253109"/>
                </a:cubicBezTo>
                <a:cubicBezTo>
                  <a:pt x="2184185" y="252035"/>
                  <a:pt x="2200274" y="244190"/>
                  <a:pt x="2217107" y="240583"/>
                </a:cubicBezTo>
                <a:cubicBezTo>
                  <a:pt x="2258742" y="231661"/>
                  <a:pt x="2301058" y="225858"/>
                  <a:pt x="2342367" y="215531"/>
                </a:cubicBezTo>
                <a:cubicBezTo>
                  <a:pt x="2359068" y="211356"/>
                  <a:pt x="2375341" y="204718"/>
                  <a:pt x="2392471" y="203005"/>
                </a:cubicBezTo>
                <a:cubicBezTo>
                  <a:pt x="2459075" y="196345"/>
                  <a:pt x="2526082" y="194654"/>
                  <a:pt x="2592888" y="190479"/>
                </a:cubicBezTo>
                <a:cubicBezTo>
                  <a:pt x="2634735" y="176530"/>
                  <a:pt x="2633385" y="175913"/>
                  <a:pt x="2680570" y="165427"/>
                </a:cubicBezTo>
                <a:cubicBezTo>
                  <a:pt x="2701353" y="160809"/>
                  <a:pt x="2722417" y="157519"/>
                  <a:pt x="2743200" y="152901"/>
                </a:cubicBezTo>
                <a:cubicBezTo>
                  <a:pt x="2760005" y="149166"/>
                  <a:pt x="2776139" y="141695"/>
                  <a:pt x="2793304" y="140375"/>
                </a:cubicBezTo>
                <a:cubicBezTo>
                  <a:pt x="2884986" y="133323"/>
                  <a:pt x="2977019" y="132024"/>
                  <a:pt x="3068877" y="127849"/>
                </a:cubicBezTo>
                <a:cubicBezTo>
                  <a:pt x="3237973" y="71484"/>
                  <a:pt x="3085502" y="118308"/>
                  <a:pt x="3519814" y="102797"/>
                </a:cubicBezTo>
                <a:lnTo>
                  <a:pt x="3807913" y="90271"/>
                </a:lnTo>
                <a:cubicBezTo>
                  <a:pt x="3896437" y="72566"/>
                  <a:pt x="3850345" y="84478"/>
                  <a:pt x="3945699" y="52693"/>
                </a:cubicBezTo>
                <a:cubicBezTo>
                  <a:pt x="3958225" y="48518"/>
                  <a:pt x="3970092" y="40861"/>
                  <a:pt x="3983277" y="40167"/>
                </a:cubicBezTo>
                <a:lnTo>
                  <a:pt x="4221271" y="27641"/>
                </a:lnTo>
                <a:cubicBezTo>
                  <a:pt x="4237973" y="23466"/>
                  <a:pt x="4254823" y="19844"/>
                  <a:pt x="4271376" y="15115"/>
                </a:cubicBezTo>
                <a:cubicBezTo>
                  <a:pt x="4284072" y="11488"/>
                  <a:pt x="4295852" y="4227"/>
                  <a:pt x="4308954" y="2589"/>
                </a:cubicBezTo>
                <a:cubicBezTo>
                  <a:pt x="4329669" y="0"/>
                  <a:pt x="4350707" y="2589"/>
                  <a:pt x="4371584" y="2589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257800" y="43545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Testing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105400" y="5497513"/>
            <a:ext cx="1082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b="1">
                <a:solidFill>
                  <a:schemeClr val="accent1"/>
                </a:solidFill>
              </a:rPr>
              <a:t>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17700" y="5257800"/>
            <a:ext cx="6235700" cy="63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4824" name="Group 3"/>
          <p:cNvGrpSpPr>
            <a:grpSpLocks/>
          </p:cNvGrpSpPr>
          <p:nvPr/>
        </p:nvGrpSpPr>
        <p:grpSpPr bwMode="auto">
          <a:xfrm>
            <a:off x="1535113" y="2668588"/>
            <a:ext cx="4789487" cy="3568700"/>
            <a:chOff x="1535668" y="2667794"/>
            <a:chExt cx="4788932" cy="3568938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905512" y="5866819"/>
              <a:ext cx="4419088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30" name="TextBox 6"/>
            <p:cNvSpPr txBox="1">
              <a:spLocks noChangeArrowheads="1"/>
            </p:cNvSpPr>
            <p:nvPr/>
          </p:nvSpPr>
          <p:spPr bwMode="auto">
            <a:xfrm>
              <a:off x="2743200" y="5867400"/>
              <a:ext cx="32240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Number of Training Examples</a:t>
              </a:r>
            </a:p>
          </p:txBody>
        </p:sp>
        <p:sp>
          <p:nvSpPr>
            <p:cNvPr id="34831" name="TextBox 9"/>
            <p:cNvSpPr txBox="1">
              <a:spLocks noChangeArrowheads="1"/>
            </p:cNvSpPr>
            <p:nvPr/>
          </p:nvSpPr>
          <p:spPr bwMode="auto">
            <a:xfrm rot="-5400000">
              <a:off x="1371520" y="4141636"/>
              <a:ext cx="69762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Error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rot="5400000" flipH="1" flipV="1">
              <a:off x="304413" y="4267307"/>
              <a:ext cx="3200613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1919288" y="3009900"/>
            <a:ext cx="6235700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rot="5400000" flipH="1" flipV="1">
            <a:off x="2020094" y="4990306"/>
            <a:ext cx="1295400" cy="1588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2743200" y="4800600"/>
            <a:ext cx="2249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Generalization Error</a:t>
            </a:r>
          </a:p>
        </p:txBody>
      </p:sp>
      <p:sp>
        <p:nvSpPr>
          <p:cNvPr id="34828" name="TextBox 15"/>
          <p:cNvSpPr txBox="1">
            <a:spLocks noChangeArrowheads="1"/>
          </p:cNvSpPr>
          <p:nvPr/>
        </p:nvSpPr>
        <p:spPr bwMode="auto">
          <a:xfrm>
            <a:off x="3429000" y="144780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Fixed classifier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7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measure complexity?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dirty="0"/>
              <a:t>VC dimension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Other ways: number of parameters, etc.</a:t>
            </a:r>
          </a:p>
        </p:txBody>
      </p:sp>
      <p:pic>
        <p:nvPicPr>
          <p:cNvPr id="35844" name="Picture 2" descr="\sqrt{h(\log(2N/h)+1)-\log(\eta/4)\over N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50019"/>
            <a:ext cx="25431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TextBox 5"/>
          <p:cNvSpPr txBox="1">
            <a:spLocks noChangeArrowheads="1"/>
          </p:cNvSpPr>
          <p:nvPr/>
        </p:nvSpPr>
        <p:spPr bwMode="auto">
          <a:xfrm>
            <a:off x="2819400" y="3626219"/>
            <a:ext cx="1824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Training error + </a:t>
            </a:r>
          </a:p>
        </p:txBody>
      </p:sp>
      <p:sp>
        <p:nvSpPr>
          <p:cNvPr id="35846" name="TextBox 6"/>
          <p:cNvSpPr txBox="1">
            <a:spLocks noChangeArrowheads="1"/>
          </p:cNvSpPr>
          <p:nvPr/>
        </p:nvSpPr>
        <p:spPr bwMode="auto">
          <a:xfrm>
            <a:off x="4038600" y="2864219"/>
            <a:ext cx="3890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Upper bound on generalization error</a:t>
            </a:r>
          </a:p>
        </p:txBody>
      </p:sp>
      <p:sp>
        <p:nvSpPr>
          <p:cNvPr id="35847" name="TextBox 7"/>
          <p:cNvSpPr txBox="1">
            <a:spLocks noChangeArrowheads="1"/>
          </p:cNvSpPr>
          <p:nvPr/>
        </p:nvSpPr>
        <p:spPr bwMode="auto">
          <a:xfrm>
            <a:off x="4953000" y="4159619"/>
            <a:ext cx="274002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/>
              <a:t>N: size of training set</a:t>
            </a:r>
          </a:p>
          <a:p>
            <a:pPr eaLnBrk="1" hangingPunct="1"/>
            <a:r>
              <a:rPr lang="en-US" sz="1400"/>
              <a:t>h: VC dimension</a:t>
            </a:r>
          </a:p>
          <a:p>
            <a:pPr eaLnBrk="1" hangingPunct="1"/>
            <a:r>
              <a:rPr lang="en-US" sz="1400">
                <a:sym typeface="Symbol" pitchFamily="18" charset="2"/>
              </a:rPr>
              <a:t>: 1-probability that bound holds</a:t>
            </a:r>
            <a:endParaRPr lang="en-US" sz="140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81000" y="1828800"/>
            <a:ext cx="29718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What is the VC dimension of a linear classifier for N-dimensional features?  For a nearest neighbor classifier?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16426" y="3621735"/>
            <a:ext cx="1556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error &lt;=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reduce variance?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Choose a simpler classifier</a:t>
            </a:r>
          </a:p>
          <a:p>
            <a:endParaRPr lang="en-US"/>
          </a:p>
          <a:p>
            <a:r>
              <a:rPr lang="en-US"/>
              <a:t>Regularize the parameters</a:t>
            </a:r>
          </a:p>
          <a:p>
            <a:endParaRPr lang="en-US"/>
          </a:p>
          <a:p>
            <a:r>
              <a:rPr lang="en-US"/>
              <a:t>Get more training data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33400" y="5410200"/>
            <a:ext cx="8323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800"/>
              <a:t>Which of these could actually lead to greater error?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Reducing Risk of Error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Margins</a:t>
            </a:r>
          </a:p>
        </p:txBody>
      </p:sp>
      <p:grpSp>
        <p:nvGrpSpPr>
          <p:cNvPr id="37892" name="Group 14"/>
          <p:cNvGrpSpPr>
            <a:grpSpLocks/>
          </p:cNvGrpSpPr>
          <p:nvPr/>
        </p:nvGrpSpPr>
        <p:grpSpPr bwMode="auto">
          <a:xfrm>
            <a:off x="2819400" y="2362200"/>
            <a:ext cx="4038600" cy="3417888"/>
            <a:chOff x="4267200" y="2667000"/>
            <a:chExt cx="4038600" cy="3417332"/>
          </a:xfrm>
        </p:grpSpPr>
        <p:sp>
          <p:nvSpPr>
            <p:cNvPr id="37896" name="TextBox 4"/>
            <p:cNvSpPr txBox="1">
              <a:spLocks noChangeArrowheads="1"/>
            </p:cNvSpPr>
            <p:nvPr/>
          </p:nvSpPr>
          <p:spPr bwMode="auto"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897" name="TextBox 5"/>
            <p:cNvSpPr txBox="1">
              <a:spLocks noChangeArrowheads="1"/>
            </p:cNvSpPr>
            <p:nvPr/>
          </p:nvSpPr>
          <p:spPr bwMode="auto"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898" name="TextBox 6"/>
            <p:cNvSpPr txBox="1">
              <a:spLocks noChangeArrowheads="1"/>
            </p:cNvSpPr>
            <p:nvPr/>
          </p:nvSpPr>
          <p:spPr bwMode="auto"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899" name="TextBox 7"/>
            <p:cNvSpPr txBox="1">
              <a:spLocks noChangeArrowheads="1"/>
            </p:cNvSpPr>
            <p:nvPr/>
          </p:nvSpPr>
          <p:spPr bwMode="auto"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900" name="TextBox 8"/>
            <p:cNvSpPr txBox="1">
              <a:spLocks noChangeArrowheads="1"/>
            </p:cNvSpPr>
            <p:nvPr/>
          </p:nvSpPr>
          <p:spPr bwMode="auto"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901" name="TextBox 9"/>
            <p:cNvSpPr txBox="1">
              <a:spLocks noChangeArrowheads="1"/>
            </p:cNvSpPr>
            <p:nvPr/>
          </p:nvSpPr>
          <p:spPr bwMode="auto"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902" name="TextBox 10"/>
            <p:cNvSpPr txBox="1">
              <a:spLocks noChangeArrowheads="1"/>
            </p:cNvSpPr>
            <p:nvPr/>
          </p:nvSpPr>
          <p:spPr bwMode="auto"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903" name="TextBox 11"/>
            <p:cNvSpPr txBox="1">
              <a:spLocks noChangeArrowheads="1"/>
            </p:cNvSpPr>
            <p:nvPr/>
          </p:nvSpPr>
          <p:spPr bwMode="auto">
            <a:xfrm>
              <a:off x="5715000" y="3680460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7904" name="TextBox 12"/>
            <p:cNvSpPr txBox="1">
              <a:spLocks noChangeArrowheads="1"/>
            </p:cNvSpPr>
            <p:nvPr/>
          </p:nvSpPr>
          <p:spPr bwMode="auto"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7905" name="TextBox 13"/>
            <p:cNvSpPr txBox="1">
              <a:spLocks noChangeArrowheads="1"/>
            </p:cNvSpPr>
            <p:nvPr/>
          </p:nvSpPr>
          <p:spPr bwMode="auto"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7906" name="TextBox 14"/>
            <p:cNvSpPr txBox="1">
              <a:spLocks noChangeArrowheads="1"/>
            </p:cNvSpPr>
            <p:nvPr/>
          </p:nvSpPr>
          <p:spPr bwMode="auto"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7907" name="TextBox 15"/>
            <p:cNvSpPr txBox="1">
              <a:spLocks noChangeArrowheads="1"/>
            </p:cNvSpPr>
            <p:nvPr/>
          </p:nvSpPr>
          <p:spPr bwMode="auto"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sp>
          <p:nvSpPr>
            <p:cNvPr id="37908" name="TextBox 16"/>
            <p:cNvSpPr txBox="1">
              <a:spLocks noChangeArrowheads="1"/>
            </p:cNvSpPr>
            <p:nvPr/>
          </p:nvSpPr>
          <p:spPr bwMode="auto"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o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rot="5400000" flipH="1" flipV="1">
              <a:off x="3389555" y="4152658"/>
              <a:ext cx="2972904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4876800" y="5638317"/>
              <a:ext cx="3429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11" name="TextBox 19"/>
            <p:cNvSpPr txBox="1">
              <a:spLocks noChangeArrowheads="1"/>
            </p:cNvSpPr>
            <p:nvPr/>
          </p:nvSpPr>
          <p:spPr bwMode="auto"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x2</a:t>
              </a:r>
            </a:p>
          </p:txBody>
        </p:sp>
        <p:sp>
          <p:nvSpPr>
            <p:cNvPr id="37912" name="TextBox 20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/>
                <a:t>x1</a:t>
              </a:r>
            </a:p>
          </p:txBody>
        </p:sp>
      </p:grpSp>
      <p:cxnSp>
        <p:nvCxnSpPr>
          <p:cNvPr id="22" name="Straight Connector 21"/>
          <p:cNvCxnSpPr/>
          <p:nvPr/>
        </p:nvCxnSpPr>
        <p:spPr>
          <a:xfrm>
            <a:off x="3048000" y="3276600"/>
            <a:ext cx="4038600" cy="152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200400" y="3132138"/>
            <a:ext cx="4038600" cy="152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113088" y="3494088"/>
            <a:ext cx="4038600" cy="1524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perfect classification algorithm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Objective function: encodes the right loss for the problem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Parameterization: makes assumptions that fit the problem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Regularization: right level of regularization for amount of training data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Training algorithm: can find parameters that maximize objective on training set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Inference algorithm: can solve for objective function in evaluation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Generative vs. Discriminative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4114800" cy="5486400"/>
          </a:xfrm>
        </p:spPr>
        <p:txBody>
          <a:bodyPr/>
          <a:lstStyle/>
          <a:p>
            <a:pPr>
              <a:buFont typeface="Arial" pitchFamily="34" charset="0"/>
              <a:buNone/>
            </a:pPr>
            <a:r>
              <a:rPr lang="en-US" sz="2800"/>
              <a:t>Generative</a:t>
            </a:r>
          </a:p>
          <a:p>
            <a:r>
              <a:rPr lang="en-US" sz="2400"/>
              <a:t>Training</a:t>
            </a:r>
          </a:p>
          <a:p>
            <a:pPr lvl="1"/>
            <a:r>
              <a:rPr lang="en-US" sz="2000"/>
              <a:t>Models the data and the labels</a:t>
            </a:r>
          </a:p>
          <a:p>
            <a:pPr lvl="1"/>
            <a:r>
              <a:rPr lang="en-US" sz="2000"/>
              <a:t>Assume (or learn) probability distribution and dependency structure</a:t>
            </a:r>
          </a:p>
          <a:p>
            <a:pPr lvl="1"/>
            <a:r>
              <a:rPr lang="en-US" sz="2000"/>
              <a:t>Can impose priors</a:t>
            </a:r>
          </a:p>
          <a:p>
            <a:r>
              <a:rPr lang="en-US" sz="2400"/>
              <a:t>Testing</a:t>
            </a:r>
          </a:p>
          <a:p>
            <a:pPr lvl="1"/>
            <a:r>
              <a:rPr lang="en-US" sz="2000"/>
              <a:t>P(y=1, x) / P(y=0, x) &gt; t?</a:t>
            </a:r>
          </a:p>
          <a:p>
            <a:r>
              <a:rPr lang="en-US" sz="2400"/>
              <a:t>Examples</a:t>
            </a:r>
          </a:p>
          <a:p>
            <a:pPr lvl="1"/>
            <a:r>
              <a:rPr lang="en-US" sz="2000"/>
              <a:t>Foreground/background GMM </a:t>
            </a:r>
          </a:p>
          <a:p>
            <a:pPr lvl="1"/>
            <a:r>
              <a:rPr lang="en-US" sz="2000"/>
              <a:t>Naïve Bayes classifier</a:t>
            </a:r>
          </a:p>
          <a:p>
            <a:pPr lvl="1"/>
            <a:r>
              <a:rPr lang="en-US" sz="2000"/>
              <a:t>Bayesian network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0" y="1143000"/>
            <a:ext cx="41148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US" sz="2800" dirty="0">
                <a:latin typeface="+mn-lt"/>
              </a:rPr>
              <a:t>Discriminative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>
                <a:latin typeface="+mn-lt"/>
              </a:rPr>
              <a:t>Training</a:t>
            </a: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000" dirty="0">
                <a:latin typeface="+mn-lt"/>
              </a:rPr>
              <a:t>Learn to directly predict the labels from the data</a:t>
            </a: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000" dirty="0">
                <a:latin typeface="+mn-lt"/>
              </a:rPr>
              <a:t>Assume form of boundary</a:t>
            </a: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000" dirty="0">
                <a:latin typeface="+mn-lt"/>
              </a:rPr>
              <a:t>Margin maximization or parameter regularization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>
                <a:latin typeface="+mn-lt"/>
              </a:rPr>
              <a:t>Testing</a:t>
            </a: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000" dirty="0">
                <a:latin typeface="+mn-lt"/>
              </a:rPr>
              <a:t>f(x) &gt; t  ;   e.g., </a:t>
            </a:r>
            <a:r>
              <a:rPr lang="en-US" sz="2000" dirty="0" err="1">
                <a:latin typeface="+mn-lt"/>
              </a:rPr>
              <a:t>w</a:t>
            </a:r>
            <a:r>
              <a:rPr lang="en-US" sz="2000" baseline="30000" dirty="0" err="1">
                <a:latin typeface="+mn-lt"/>
              </a:rPr>
              <a:t>T</a:t>
            </a:r>
            <a:r>
              <a:rPr lang="en-US" sz="2000" dirty="0" err="1">
                <a:latin typeface="+mn-lt"/>
              </a:rPr>
              <a:t>x</a:t>
            </a:r>
            <a:r>
              <a:rPr lang="en-US" sz="2000" dirty="0">
                <a:latin typeface="+mn-lt"/>
              </a:rPr>
              <a:t> &gt; t</a:t>
            </a:r>
          </a:p>
          <a:p>
            <a: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>
                <a:latin typeface="+mn-lt"/>
              </a:rPr>
              <a:t>Examples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000" dirty="0">
                <a:latin typeface="+mn-lt"/>
              </a:rPr>
              <a:t>Logistic regression</a:t>
            </a: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000" dirty="0">
                <a:latin typeface="+mn-lt"/>
              </a:rPr>
              <a:t>SVM</a:t>
            </a:r>
          </a:p>
          <a:p>
            <a:pPr marL="742950" lvl="1" indent="-285750" eaLnBrk="0" hangingPunct="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000" dirty="0">
                <a:latin typeface="+mn-lt"/>
              </a:rPr>
              <a:t>Boosted decision 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ways to think about classifiers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Calibri" pitchFamily="34" charset="0"/>
              <a:buAutoNum type="arabicPeriod"/>
            </a:pPr>
            <a:endParaRPr lang="en-US"/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/>
              <a:t>What is the objective? What are the parameters?  How are the parameters learned? How is the learning regularized?  How is inference performed?</a:t>
            </a:r>
          </a:p>
          <a:p>
            <a:pPr marL="514350" indent="-514350">
              <a:buFont typeface="Calibri" pitchFamily="34" charset="0"/>
              <a:buAutoNum type="arabicPeriod"/>
            </a:pPr>
            <a:endParaRPr lang="en-US"/>
          </a:p>
          <a:p>
            <a:pPr marL="514350" indent="-514350">
              <a:buFont typeface="Calibri" pitchFamily="34" charset="0"/>
              <a:buAutoNum type="arabicPeriod"/>
            </a:pPr>
            <a:r>
              <a:rPr lang="en-US"/>
              <a:t>How is the data modeled?  How is similarity defined?  What is the shape of the boundary?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</a:t>
            </a:r>
          </a:p>
        </p:txBody>
      </p:sp>
      <p:sp>
        <p:nvSpPr>
          <p:cNvPr id="2060" name="TextBox 3"/>
          <p:cNvSpPr txBox="1">
            <a:spLocks noChangeArrowheads="1"/>
          </p:cNvSpPr>
          <p:nvPr/>
        </p:nvSpPr>
        <p:spPr bwMode="auto">
          <a:xfrm>
            <a:off x="0" y="1603375"/>
            <a:ext cx="1371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Naïve Bayes</a:t>
            </a:r>
          </a:p>
        </p:txBody>
      </p:sp>
      <p:sp>
        <p:nvSpPr>
          <p:cNvPr id="2061" name="TextBox 4"/>
          <p:cNvSpPr txBox="1">
            <a:spLocks noChangeArrowheads="1"/>
          </p:cNvSpPr>
          <p:nvPr/>
        </p:nvSpPr>
        <p:spPr bwMode="auto">
          <a:xfrm>
            <a:off x="-31750" y="2613025"/>
            <a:ext cx="1784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Logistic Regression</a:t>
            </a:r>
          </a:p>
        </p:txBody>
      </p:sp>
      <p:sp>
        <p:nvSpPr>
          <p:cNvPr id="2062" name="TextBox 5"/>
          <p:cNvSpPr txBox="1">
            <a:spLocks noChangeArrowheads="1"/>
          </p:cNvSpPr>
          <p:nvPr/>
        </p:nvSpPr>
        <p:spPr bwMode="auto">
          <a:xfrm>
            <a:off x="0" y="3581400"/>
            <a:ext cx="121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Linear SVM</a:t>
            </a:r>
          </a:p>
        </p:txBody>
      </p:sp>
      <p:sp>
        <p:nvSpPr>
          <p:cNvPr id="2063" name="TextBox 7"/>
          <p:cNvSpPr txBox="1">
            <a:spLocks noChangeArrowheads="1"/>
          </p:cNvSpPr>
          <p:nvPr/>
        </p:nvSpPr>
        <p:spPr bwMode="auto">
          <a:xfrm>
            <a:off x="0" y="5449888"/>
            <a:ext cx="1447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Nearest Neighbor</a:t>
            </a:r>
          </a:p>
        </p:txBody>
      </p:sp>
      <p:sp>
        <p:nvSpPr>
          <p:cNvPr id="2064" name="TextBox 11"/>
          <p:cNvSpPr txBox="1">
            <a:spLocks noChangeArrowheads="1"/>
          </p:cNvSpPr>
          <p:nvPr/>
        </p:nvSpPr>
        <p:spPr bwMode="auto">
          <a:xfrm>
            <a:off x="0" y="4535488"/>
            <a:ext cx="152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/>
              <a:t>Kernelized SVM</a:t>
            </a:r>
          </a:p>
        </p:txBody>
      </p:sp>
      <p:sp>
        <p:nvSpPr>
          <p:cNvPr id="2065" name="TextBox 13"/>
          <p:cNvSpPr txBox="1">
            <a:spLocks noChangeArrowheads="1"/>
          </p:cNvSpPr>
          <p:nvPr/>
        </p:nvSpPr>
        <p:spPr bwMode="auto">
          <a:xfrm>
            <a:off x="1828800" y="954088"/>
            <a:ext cx="2438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b="1"/>
              <a:t>Learning Objective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679575" y="1563688"/>
          <a:ext cx="23399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609480" progId="Equation.3">
                  <p:embed/>
                </p:oleObj>
              </mc:Choice>
              <mc:Fallback>
                <p:oleObj name="Equation" r:id="rId2" imgW="2108160" imgH="609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1563688"/>
                        <a:ext cx="23399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6" name="TextBox 15"/>
          <p:cNvSpPr txBox="1">
            <a:spLocks noChangeArrowheads="1"/>
          </p:cNvSpPr>
          <p:nvPr/>
        </p:nvSpPr>
        <p:spPr bwMode="auto">
          <a:xfrm>
            <a:off x="4724400" y="1030288"/>
            <a:ext cx="1828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b="1"/>
              <a:t>Training</a:t>
            </a: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4343400" y="1563688"/>
          <a:ext cx="20256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660240" progId="Equation.3">
                  <p:embed/>
                </p:oleObj>
              </mc:Choice>
              <mc:Fallback>
                <p:oleObj name="Equation" r:id="rId4" imgW="1815840" imgH="660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563688"/>
                        <a:ext cx="202565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7" name="TextBox 17"/>
          <p:cNvSpPr txBox="1">
            <a:spLocks noChangeArrowheads="1"/>
          </p:cNvSpPr>
          <p:nvPr/>
        </p:nvSpPr>
        <p:spPr bwMode="auto">
          <a:xfrm>
            <a:off x="6934200" y="1041400"/>
            <a:ext cx="182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b="1"/>
              <a:t>Inference</a:t>
            </a:r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7183438" y="1454150"/>
          <a:ext cx="1503362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1206360" progId="Equation.3">
                  <p:embed/>
                </p:oleObj>
              </mc:Choice>
              <mc:Fallback>
                <p:oleObj name="Equation" r:id="rId6" imgW="2019240" imgH="1206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3438" y="1454150"/>
                        <a:ext cx="1503362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1682750" y="2582863"/>
          <a:ext cx="2693988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680" imgH="596880" progId="Equation.3">
                  <p:embed/>
                </p:oleObj>
              </mc:Choice>
              <mc:Fallback>
                <p:oleObj name="Equation" r:id="rId8" imgW="2425680" imgH="596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2582863"/>
                        <a:ext cx="2693988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" name="TextBox 21"/>
          <p:cNvSpPr txBox="1">
            <a:spLocks noChangeArrowheads="1"/>
          </p:cNvSpPr>
          <p:nvPr/>
        </p:nvSpPr>
        <p:spPr bwMode="auto">
          <a:xfrm>
            <a:off x="4876800" y="2765425"/>
            <a:ext cx="14478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 dirty="0"/>
              <a:t>Gradient ascent</a:t>
            </a:r>
          </a:p>
        </p:txBody>
      </p:sp>
      <p:graphicFrame>
        <p:nvGraphicFramePr>
          <p:cNvPr id="2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27875"/>
              </p:ext>
            </p:extLst>
          </p:nvPr>
        </p:nvGraphicFramePr>
        <p:xfrm>
          <a:off x="7256463" y="2765425"/>
          <a:ext cx="779462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58720" imgH="203040" progId="Equation.3">
                  <p:embed/>
                </p:oleObj>
              </mc:Choice>
              <mc:Fallback>
                <p:oleObj name="Equation" r:id="rId10" imgW="5587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463" y="2765425"/>
                        <a:ext cx="779462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462116"/>
              </p:ext>
            </p:extLst>
          </p:nvPr>
        </p:nvGraphicFramePr>
        <p:xfrm>
          <a:off x="7218363" y="3733800"/>
          <a:ext cx="8397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8720" imgH="203040" progId="Equation.3">
                  <p:embed/>
                </p:oleObj>
              </mc:Choice>
              <mc:Fallback>
                <p:oleObj name="Equation" r:id="rId12" imgW="55872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363" y="3733800"/>
                        <a:ext cx="83978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9" name="TextBox 24"/>
          <p:cNvSpPr txBox="1">
            <a:spLocks noChangeArrowheads="1"/>
          </p:cNvSpPr>
          <p:nvPr/>
        </p:nvSpPr>
        <p:spPr bwMode="auto">
          <a:xfrm>
            <a:off x="4714335" y="3571335"/>
            <a:ext cx="213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 dirty="0"/>
              <a:t>Quadratic programming or </a:t>
            </a:r>
            <a:r>
              <a:rPr lang="en-US" sz="1400" dirty="0" err="1"/>
              <a:t>subgradient</a:t>
            </a:r>
            <a:r>
              <a:rPr lang="en-US" sz="1400" dirty="0"/>
              <a:t> opt.</a:t>
            </a: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179048"/>
              </p:ext>
            </p:extLst>
          </p:nvPr>
        </p:nvGraphicFramePr>
        <p:xfrm>
          <a:off x="1671638" y="3429000"/>
          <a:ext cx="24415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97080" imgH="672840" progId="Equation.3">
                  <p:embed/>
                </p:oleObj>
              </mc:Choice>
              <mc:Fallback>
                <p:oleObj name="Equation" r:id="rId14" imgW="2197080" imgH="672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3429000"/>
                        <a:ext cx="244157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Connector 27"/>
          <p:cNvCxnSpPr/>
          <p:nvPr/>
        </p:nvCxnSpPr>
        <p:spPr>
          <a:xfrm>
            <a:off x="0" y="2362200"/>
            <a:ext cx="91440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0" y="3316288"/>
            <a:ext cx="91440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0" y="4303713"/>
            <a:ext cx="91440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0" y="1371600"/>
            <a:ext cx="91440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0" y="5334000"/>
            <a:ext cx="91440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0" y="6324600"/>
            <a:ext cx="9144000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TextBox 34"/>
          <p:cNvSpPr txBox="1">
            <a:spLocks noChangeArrowheads="1"/>
          </p:cNvSpPr>
          <p:nvPr/>
        </p:nvSpPr>
        <p:spPr bwMode="auto">
          <a:xfrm>
            <a:off x="4876800" y="4572000"/>
            <a:ext cx="1676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/>
              <a:t>Quadratic programming</a:t>
            </a:r>
          </a:p>
        </p:txBody>
      </p:sp>
      <p:sp>
        <p:nvSpPr>
          <p:cNvPr id="2077" name="TextBox 35"/>
          <p:cNvSpPr txBox="1">
            <a:spLocks noChangeArrowheads="1"/>
          </p:cNvSpPr>
          <p:nvPr/>
        </p:nvSpPr>
        <p:spPr bwMode="auto">
          <a:xfrm>
            <a:off x="2003425" y="4648200"/>
            <a:ext cx="1806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/>
              <a:t>complicated to write</a:t>
            </a:r>
          </a:p>
        </p:txBody>
      </p:sp>
      <p:sp>
        <p:nvSpPr>
          <p:cNvPr id="2078" name="TextBox 36"/>
          <p:cNvSpPr txBox="1">
            <a:spLocks noChangeArrowheads="1"/>
          </p:cNvSpPr>
          <p:nvPr/>
        </p:nvSpPr>
        <p:spPr bwMode="auto">
          <a:xfrm>
            <a:off x="1524000" y="5711825"/>
            <a:ext cx="29765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/>
              <a:t>most similar features </a:t>
            </a:r>
            <a:r>
              <a:rPr lang="en-US" sz="1400">
                <a:sym typeface="Wingdings" pitchFamily="2" charset="2"/>
              </a:rPr>
              <a:t> same label</a:t>
            </a:r>
            <a:endParaRPr lang="en-US" sz="1400"/>
          </a:p>
        </p:txBody>
      </p:sp>
      <p:sp>
        <p:nvSpPr>
          <p:cNvPr id="2079" name="TextBox 37"/>
          <p:cNvSpPr txBox="1">
            <a:spLocks noChangeArrowheads="1"/>
          </p:cNvSpPr>
          <p:nvPr/>
        </p:nvSpPr>
        <p:spPr bwMode="auto">
          <a:xfrm>
            <a:off x="4860925" y="5711825"/>
            <a:ext cx="1158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400"/>
              <a:t>Record data</a:t>
            </a:r>
          </a:p>
        </p:txBody>
      </p:sp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6934200" y="4648200"/>
          <a:ext cx="18557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93760" imgH="342720" progId="Equation.3">
                  <p:embed/>
                </p:oleObj>
              </mc:Choice>
              <mc:Fallback>
                <p:oleObj name="Equation" r:id="rId16" imgW="1193760" imgH="3427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648200"/>
                        <a:ext cx="18557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6540500" y="5461000"/>
          <a:ext cx="25273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25400" imgH="533160" progId="Equation.3">
                  <p:embed/>
                </p:oleObj>
              </mc:Choice>
              <mc:Fallback>
                <p:oleObj name="Equation" r:id="rId18" imgW="1625400" imgH="5331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5461000"/>
                        <a:ext cx="252730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0" name="TextBox 33"/>
          <p:cNvSpPr txBox="1">
            <a:spLocks noChangeArrowheads="1"/>
          </p:cNvSpPr>
          <p:nvPr/>
        </p:nvSpPr>
        <p:spPr bwMode="auto">
          <a:xfrm>
            <a:off x="7315200" y="533400"/>
            <a:ext cx="1481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1200"/>
              <a:t>assuming x in {0 1}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rot="5400000">
            <a:off x="8458200" y="1219200"/>
            <a:ext cx="6858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Preparing features for linear classifiers</a:t>
            </a:r>
          </a:p>
          <a:p>
            <a:pPr lvl="1"/>
            <a:r>
              <a:rPr lang="en-US" dirty="0"/>
              <a:t>Often helps to make zero-mean, unit-</a:t>
            </a:r>
            <a:r>
              <a:rPr lang="en-US" dirty="0" err="1"/>
              <a:t>dev</a:t>
            </a:r>
            <a:endParaRPr lang="en-US" dirty="0"/>
          </a:p>
          <a:p>
            <a:pPr lvl="1"/>
            <a:r>
              <a:rPr lang="en-US" dirty="0"/>
              <a:t>For non-ordinal features, convert to a set of binary features</a:t>
            </a:r>
          </a:p>
          <a:p>
            <a:endParaRPr lang="en-US" dirty="0"/>
          </a:p>
          <a:p>
            <a:r>
              <a:rPr lang="en-US" dirty="0"/>
              <a:t>Selecting classifier meta-parameters (e.g., regularization weight)</a:t>
            </a:r>
          </a:p>
          <a:p>
            <a:pPr lvl="1"/>
            <a:r>
              <a:rPr lang="en-US" dirty="0"/>
              <a:t>Cross-validation: split data into subsets; train on all but one subset, test on remaining; repeat holding out each subset</a:t>
            </a:r>
          </a:p>
          <a:p>
            <a:pPr lvl="2"/>
            <a:r>
              <a:rPr lang="en-US" dirty="0"/>
              <a:t>Leave-one-out, 5-fold, etc.</a:t>
            </a:r>
          </a:p>
          <a:p>
            <a:endParaRPr lang="en-US" dirty="0"/>
          </a:p>
          <a:p>
            <a:r>
              <a:rPr lang="en-US" dirty="0"/>
              <a:t>Most popular classifiers in vision</a:t>
            </a:r>
          </a:p>
          <a:p>
            <a:pPr lvl="1"/>
            <a:r>
              <a:rPr lang="en-US" i="1" dirty="0"/>
              <a:t>SVM</a:t>
            </a:r>
            <a:r>
              <a:rPr lang="en-US" dirty="0"/>
              <a:t>: linear for when fast training/classification is needed; performs well with lots of weak features</a:t>
            </a:r>
          </a:p>
          <a:p>
            <a:pPr lvl="1"/>
            <a:r>
              <a:rPr lang="en-US" i="1" dirty="0"/>
              <a:t>Logistic Regression</a:t>
            </a:r>
            <a:r>
              <a:rPr lang="en-US" dirty="0"/>
              <a:t>: outputs a probability; easy to train and apply</a:t>
            </a:r>
          </a:p>
          <a:p>
            <a:pPr lvl="1"/>
            <a:r>
              <a:rPr lang="en-US" i="1" dirty="0"/>
              <a:t>Nearest neighbor</a:t>
            </a:r>
            <a:r>
              <a:rPr lang="en-US" dirty="0"/>
              <a:t>: hard to beat if there is tons of data (e.g., character recognition)</a:t>
            </a:r>
          </a:p>
          <a:p>
            <a:pPr lvl="1"/>
            <a:r>
              <a:rPr lang="en-US" i="1" dirty="0"/>
              <a:t>Boosted stumps or decision trees</a:t>
            </a:r>
            <a:r>
              <a:rPr lang="en-US" dirty="0"/>
              <a:t>: applies to flexible features, incorporates feature selection, powerful classifiers</a:t>
            </a:r>
          </a:p>
          <a:p>
            <a:pPr lvl="1"/>
            <a:r>
              <a:rPr lang="en-US" dirty="0"/>
              <a:t>Random forests: outputs probability; good for simple features, tons of data</a:t>
            </a:r>
          </a:p>
          <a:p>
            <a:endParaRPr lang="en-US" dirty="0"/>
          </a:p>
          <a:p>
            <a:r>
              <a:rPr lang="en-US" dirty="0"/>
              <a:t>Always try at least two types of classifiers</a:t>
            </a:r>
          </a:p>
        </p:txBody>
      </p:sp>
    </p:spTree>
    <p:extLst>
      <p:ext uri="{BB962C8B-B14F-4D97-AF65-F5344CB8AC3E}">
        <p14:creationId xmlns:p14="http://schemas.microsoft.com/office/powerpoint/2010/main" val="169697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Characteristics of vision learning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Lots of continuous features</a:t>
            </a:r>
          </a:p>
          <a:p>
            <a:pPr lvl="1"/>
            <a:r>
              <a:rPr lang="en-US" dirty="0"/>
              <a:t>E.g., HOG template may have 1000 features</a:t>
            </a:r>
          </a:p>
          <a:p>
            <a:pPr lvl="1"/>
            <a:r>
              <a:rPr lang="en-US" dirty="0"/>
              <a:t>Spatial pyramid may have ~15,000 features</a:t>
            </a:r>
          </a:p>
          <a:p>
            <a:endParaRPr lang="en-US" dirty="0"/>
          </a:p>
          <a:p>
            <a:r>
              <a:rPr lang="en-US" dirty="0"/>
              <a:t>Imbalanced classes</a:t>
            </a:r>
          </a:p>
          <a:p>
            <a:pPr lvl="1"/>
            <a:r>
              <a:rPr lang="en-US" dirty="0"/>
              <a:t>often limited positive examples, practically infinite negative examples</a:t>
            </a:r>
          </a:p>
          <a:p>
            <a:endParaRPr lang="en-US" dirty="0"/>
          </a:p>
          <a:p>
            <a:r>
              <a:rPr lang="en-US" dirty="0"/>
              <a:t>Difficult prediction tasks </a:t>
            </a:r>
          </a:p>
        </p:txBody>
      </p:sp>
    </p:spTree>
    <p:extLst>
      <p:ext uri="{BB962C8B-B14F-4D97-AF65-F5344CB8AC3E}">
        <p14:creationId xmlns:p14="http://schemas.microsoft.com/office/powerpoint/2010/main" val="616502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 remember about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No free lunch: machine learning algorithms are tools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Try simple classifiers first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Better to have smart features and simple classifiers than simple features and smart classifiers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Use increasingly powerful classifiers with more training data (bias-variance tradeoff)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7365D"/>
      </a:hlink>
      <a:folHlink>
        <a:srgbClr val="17365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39091</TotalTime>
  <Words>1502</Words>
  <Application>Microsoft Office PowerPoint</Application>
  <PresentationFormat>On-screen Show (4:3)</PresentationFormat>
  <Paragraphs>510</Paragraphs>
  <Slides>37</Slides>
  <Notes>4</Notes>
  <HiddenSlides>2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Cambria Math</vt:lpstr>
      <vt:lpstr>Symbol</vt:lpstr>
      <vt:lpstr>Wingdings</vt:lpstr>
      <vt:lpstr>Office Theme</vt:lpstr>
      <vt:lpstr>Equation</vt:lpstr>
      <vt:lpstr>Classifiers</vt:lpstr>
      <vt:lpstr>Classifier</vt:lpstr>
      <vt:lpstr>Different types of classification</vt:lpstr>
      <vt:lpstr>One way to think about it…</vt:lpstr>
      <vt:lpstr>Exemplar-based Models</vt:lpstr>
      <vt:lpstr>K-nearest neighbor classifier</vt:lpstr>
      <vt:lpstr>1-nearest neighbor</vt:lpstr>
      <vt:lpstr>3-nearest neighbor</vt:lpstr>
      <vt:lpstr>5-nearest neighbor</vt:lpstr>
      <vt:lpstr>K-nearest neighbor</vt:lpstr>
      <vt:lpstr>Using K-NN</vt:lpstr>
      <vt:lpstr>Discriminative classifiers</vt:lpstr>
      <vt:lpstr>Classifiers: Logistic Regression</vt:lpstr>
      <vt:lpstr>Using Logistic Regression</vt:lpstr>
      <vt:lpstr>Classifiers: Linear SVM</vt:lpstr>
      <vt:lpstr>Classifiers: Kernelized SVM</vt:lpstr>
      <vt:lpstr>Using SVMs</vt:lpstr>
      <vt:lpstr>Classifiers: Decision Trees</vt:lpstr>
      <vt:lpstr>Ensemble Methods: Boosting</vt:lpstr>
      <vt:lpstr>Boosted Decision Trees </vt:lpstr>
      <vt:lpstr>Using Boosted Decision Trees</vt:lpstr>
      <vt:lpstr>Generative classifiers</vt:lpstr>
      <vt:lpstr>Naïve Bayes</vt:lpstr>
      <vt:lpstr>Using Naïve Bayes </vt:lpstr>
      <vt:lpstr>Clustering (unsupervised)</vt:lpstr>
      <vt:lpstr>Many classifiers to choose from</vt:lpstr>
      <vt:lpstr>Effect of Training Size</vt:lpstr>
      <vt:lpstr>How to measure complexity?</vt:lpstr>
      <vt:lpstr>How to reduce variance?</vt:lpstr>
      <vt:lpstr>Reducing Risk of Error</vt:lpstr>
      <vt:lpstr>The perfect classification algorithm</vt:lpstr>
      <vt:lpstr>Generative vs. Discriminative Classifiers</vt:lpstr>
      <vt:lpstr>Two ways to think about classifiers</vt:lpstr>
      <vt:lpstr>Comparison</vt:lpstr>
      <vt:lpstr>Practical tips</vt:lpstr>
      <vt:lpstr>Characteristics of vision learning problems</vt:lpstr>
      <vt:lpstr>What to remember about classifiers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Derek Hoiem</dc:creator>
  <cp:lastModifiedBy>Rawan Aldosari</cp:lastModifiedBy>
  <cp:revision>137</cp:revision>
  <cp:lastPrinted>2012-04-05T17:16:34Z</cp:lastPrinted>
  <dcterms:created xsi:type="dcterms:W3CDTF">2009-12-16T02:55:56Z</dcterms:created>
  <dcterms:modified xsi:type="dcterms:W3CDTF">2026-02-10T11:30:27Z</dcterms:modified>
</cp:coreProperties>
</file>